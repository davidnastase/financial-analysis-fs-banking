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85" r:id="rId2"/>
    <p:sldId id="281" r:id="rId3"/>
    <p:sldId id="278" r:id="rId4"/>
    <p:sldId id="279" r:id="rId5"/>
    <p:sldId id="263" r:id="rId6"/>
    <p:sldId id="277" r:id="rId7"/>
    <p:sldId id="282" r:id="rId8"/>
    <p:sldId id="283" r:id="rId9"/>
    <p:sldId id="280" r:id="rId10"/>
    <p:sldId id="27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v0b8ILzlpMOy8/9+f3X2dxFpf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5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671F21-8D09-455B-A246-73663ABF4C5D}">
  <a:tblStyle styleId="{BA671F21-8D09-455B-A246-73663ABF4C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5"/>
  </p:normalViewPr>
  <p:slideViewPr>
    <p:cSldViewPr snapToGrid="0">
      <p:cViewPr varScale="1">
        <p:scale>
          <a:sx n="97" d="100"/>
          <a:sy n="97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fr-CH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0685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7C6E2AE2-4FEB-EAF2-B39B-9E490E79A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>
            <a:extLst>
              <a:ext uri="{FF2B5EF4-FFF2-40B4-BE49-F238E27FC236}">
                <a16:creationId xmlns:a16="http://schemas.microsoft.com/office/drawing/2014/main" id="{E2EB8715-BF10-7DFF-5BF4-4872B52AE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3:notes">
            <a:extLst>
              <a:ext uri="{FF2B5EF4-FFF2-40B4-BE49-F238E27FC236}">
                <a16:creationId xmlns:a16="http://schemas.microsoft.com/office/drawing/2014/main" id="{05D451DF-FAE4-5566-6802-5D2089ABE1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:notes">
            <a:extLst>
              <a:ext uri="{FF2B5EF4-FFF2-40B4-BE49-F238E27FC236}">
                <a16:creationId xmlns:a16="http://schemas.microsoft.com/office/drawing/2014/main" id="{5561F66A-C1DD-EF2E-E11E-CF0452126C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1741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>
          <a:extLst>
            <a:ext uri="{FF2B5EF4-FFF2-40B4-BE49-F238E27FC236}">
              <a16:creationId xmlns:a16="http://schemas.microsoft.com/office/drawing/2014/main" id="{C5F957DE-0676-2DBB-8C3B-CA7945212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>
            <a:extLst>
              <a:ext uri="{FF2B5EF4-FFF2-40B4-BE49-F238E27FC236}">
                <a16:creationId xmlns:a16="http://schemas.microsoft.com/office/drawing/2014/main" id="{41D7B851-5D46-C6CE-CC31-05F63D0308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16:notes">
            <a:extLst>
              <a:ext uri="{FF2B5EF4-FFF2-40B4-BE49-F238E27FC236}">
                <a16:creationId xmlns:a16="http://schemas.microsoft.com/office/drawing/2014/main" id="{584259AD-ABBA-6D4B-8180-114CBBFF5F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:notes">
            <a:extLst>
              <a:ext uri="{FF2B5EF4-FFF2-40B4-BE49-F238E27FC236}">
                <a16:creationId xmlns:a16="http://schemas.microsoft.com/office/drawing/2014/main" id="{932BB486-7BD1-2F13-6630-8B0E1A204F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8349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7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H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0" y="-649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0">
                <a:srgbClr val="0A3041">
                  <a:alpha val="60784"/>
                </a:srgbClr>
              </a:gs>
              <a:gs pos="21000">
                <a:srgbClr val="0A3041">
                  <a:alpha val="60784"/>
                </a:srgbClr>
              </a:gs>
              <a:gs pos="100000">
                <a:srgbClr val="156082">
                  <a:alpha val="0"/>
                </a:srgbClr>
              </a:gs>
            </a:gsLst>
            <a:lin ang="21593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99000">
                <a:srgbClr val="000000">
                  <a:alpha val="40784"/>
                </a:srgbClr>
              </a:gs>
              <a:gs pos="100000">
                <a:srgbClr val="000000">
                  <a:alpha val="40784"/>
                </a:srgbClr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/>
          <p:nvPr/>
        </p:nvSpPr>
        <p:spPr>
          <a:xfrm rot="-6325827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rgbClr val="156082">
                  <a:alpha val="23921"/>
                </a:srgbClr>
              </a:gs>
              <a:gs pos="79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rgbClr val="0F4861">
                  <a:alpha val="49803"/>
                </a:srgbClr>
              </a:gs>
              <a:gs pos="99000">
                <a:srgbClr val="000000">
                  <a:alpha val="33725"/>
                </a:srgbClr>
              </a:gs>
              <a:gs pos="100000">
                <a:srgbClr val="000000">
                  <a:alpha val="33725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 rot="-54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rgbClr val="0F4861">
                  <a:alpha val="49803"/>
                </a:srgbClr>
              </a:gs>
              <a:gs pos="99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476250" y="62753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 Lausanne | Financial Services</a:t>
            </a:r>
            <a:endParaRPr lang="en-GB"/>
          </a:p>
        </p:txBody>
      </p:sp>
      <p:sp>
        <p:nvSpPr>
          <p:cNvPr id="157" name="Google Shape;157;p3"/>
          <p:cNvSpPr txBox="1"/>
          <p:nvPr/>
        </p:nvSpPr>
        <p:spPr>
          <a:xfrm>
            <a:off x="11346287" y="6275388"/>
            <a:ext cx="3885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lang="en-GB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3"/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" name="Google Shape;91;p1">
            <a:extLst>
              <a:ext uri="{FF2B5EF4-FFF2-40B4-BE49-F238E27FC236}">
                <a16:creationId xmlns:a16="http://schemas.microsoft.com/office/drawing/2014/main" id="{D41ED279-5112-1B71-8F45-B622292EF0F5}"/>
              </a:ext>
            </a:extLst>
          </p:cNvPr>
          <p:cNvGrpSpPr/>
          <p:nvPr/>
        </p:nvGrpSpPr>
        <p:grpSpPr>
          <a:xfrm>
            <a:off x="1592510" y="4172996"/>
            <a:ext cx="8063425" cy="1454197"/>
            <a:chOff x="810520" y="2694644"/>
            <a:chExt cx="8063425" cy="1454197"/>
          </a:xfrm>
        </p:grpSpPr>
        <p:sp>
          <p:nvSpPr>
            <p:cNvPr id="3" name="Google Shape;92;p1">
              <a:extLst>
                <a:ext uri="{FF2B5EF4-FFF2-40B4-BE49-F238E27FC236}">
                  <a16:creationId xmlns:a16="http://schemas.microsoft.com/office/drawing/2014/main" id="{9B6A3A6E-9852-BDB7-466C-B0DF06516B38}"/>
                </a:ext>
              </a:extLst>
            </p:cNvPr>
            <p:cNvSpPr txBox="1"/>
            <p:nvPr/>
          </p:nvSpPr>
          <p:spPr>
            <a:xfrm>
              <a:off x="810520" y="2694644"/>
              <a:ext cx="8063425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800" b="0" i="0" u="none" strike="noStrike" cap="none">
                  <a:solidFill>
                    <a:schemeClr val="bg1"/>
                  </a:solidFill>
                  <a:latin typeface="Garamond"/>
                  <a:ea typeface="Garamond"/>
                  <a:cs typeface="Garamond"/>
                  <a:sym typeface="Garamond"/>
                </a:rPr>
                <a:t>SEI Investments Co.</a:t>
              </a:r>
              <a:endParaRPr lang="en-GB" sz="480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93;p1">
              <a:extLst>
                <a:ext uri="{FF2B5EF4-FFF2-40B4-BE49-F238E27FC236}">
                  <a16:creationId xmlns:a16="http://schemas.microsoft.com/office/drawing/2014/main" id="{1E390771-2001-0C6D-4506-EF406DA0D0BC}"/>
                </a:ext>
              </a:extLst>
            </p:cNvPr>
            <p:cNvSpPr txBox="1"/>
            <p:nvPr/>
          </p:nvSpPr>
          <p:spPr>
            <a:xfrm>
              <a:off x="810520" y="3717954"/>
              <a:ext cx="80634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bg1">
                      <a:lumMod val="85000"/>
                    </a:schemeClr>
                  </a:solidFill>
                  <a:latin typeface="Garamond"/>
                  <a:ea typeface="Garamond"/>
                  <a:cs typeface="Garamond"/>
                  <a:sym typeface="Garamond"/>
                </a:rPr>
                <a:t>NASDAQ: SEIC</a:t>
              </a:r>
              <a:endParaRPr lang="en-GB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cxnSp>
          <p:nvCxnSpPr>
            <p:cNvPr id="5" name="Google Shape;94;p1">
              <a:extLst>
                <a:ext uri="{FF2B5EF4-FFF2-40B4-BE49-F238E27FC236}">
                  <a16:creationId xmlns:a16="http://schemas.microsoft.com/office/drawing/2014/main" id="{E4EF2A81-B8F7-15AD-72DD-03531C9C8180}"/>
                </a:ext>
              </a:extLst>
            </p:cNvPr>
            <p:cNvCxnSpPr/>
            <p:nvPr/>
          </p:nvCxnSpPr>
          <p:spPr>
            <a:xfrm>
              <a:off x="810520" y="3575631"/>
              <a:ext cx="8063425" cy="0"/>
            </a:xfrm>
            <a:prstGeom prst="straightConnector1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9" name="Google Shape;99;p1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6BBD4576-B7F0-9B15-FBEB-E55E27D9BB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760" y="159725"/>
            <a:ext cx="2257612" cy="169320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8;p1">
            <a:extLst>
              <a:ext uri="{FF2B5EF4-FFF2-40B4-BE49-F238E27FC236}">
                <a16:creationId xmlns:a16="http://schemas.microsoft.com/office/drawing/2014/main" id="{97C096E2-7F96-6463-EF85-B1A397F12723}"/>
              </a:ext>
            </a:extLst>
          </p:cNvPr>
          <p:cNvSpPr txBox="1"/>
          <p:nvPr/>
        </p:nvSpPr>
        <p:spPr>
          <a:xfrm>
            <a:off x="9519733" y="185216"/>
            <a:ext cx="267226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Cyrille Desponds</a:t>
            </a:r>
            <a:endParaRPr lang="en-GB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Maxime Jaques</a:t>
            </a:r>
            <a:endParaRPr lang="en-GB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Corentin </a:t>
            </a:r>
            <a:r>
              <a:rPr lang="en-GB" sz="1400" err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Marchandise</a:t>
            </a:r>
            <a:endParaRPr lang="en-GB" sz="14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David Nastase</a:t>
            </a:r>
            <a:endParaRPr lang="en-GB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Tomas Papuga</a:t>
            </a:r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>
            <a:spLocks noGrp="1"/>
          </p:cNvSpPr>
          <p:nvPr>
            <p:ph type="sldNum" idx="12"/>
          </p:nvPr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lt1"/>
                </a:solidFill>
              </a:rPr>
              <a:t>2</a:t>
            </a:fld>
            <a:endParaRPr lang="en-GB">
              <a:solidFill>
                <a:schemeClr val="lt1"/>
              </a:solidFill>
            </a:endParaRPr>
          </a:p>
        </p:txBody>
      </p:sp>
      <p:pic>
        <p:nvPicPr>
          <p:cNvPr id="193" name="Google Shape;1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799" y="365125"/>
            <a:ext cx="960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/>
          <p:nvPr/>
        </p:nvSpPr>
        <p:spPr>
          <a:xfrm>
            <a:off x="5717429" y="1552128"/>
            <a:ext cx="5073370" cy="3753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5923119" y="1639768"/>
            <a:ext cx="4661989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Price: 78.11 USD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P/E : 13.6x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Implied Shares Outstanding: 122.44M 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Market Cap: 9.55B USD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Net Debt: 28.56M USD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Debt-to-Equity: 1.06%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EV: 9.11M USD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EV / EBIT : 11.0x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Earnings Yield : 9.1%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Dividend Yield : 1.35%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en-US" dirty="0"/>
              <a:t>P/B : 3.89x</a:t>
            </a:r>
          </a:p>
        </p:txBody>
      </p:sp>
      <p:sp>
        <p:nvSpPr>
          <p:cNvPr id="196" name="Google Shape;196;p5"/>
          <p:cNvSpPr txBox="1"/>
          <p:nvPr/>
        </p:nvSpPr>
        <p:spPr>
          <a:xfrm>
            <a:off x="476250" y="365125"/>
            <a:ext cx="9820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2000"/>
              <a:buFont typeface="Garamond"/>
              <a:buNone/>
            </a:pPr>
            <a:r>
              <a:rPr lang="en-GB" sz="2000" b="1">
                <a:solidFill>
                  <a:srgbClr val="102747"/>
                </a:solidFill>
                <a:latin typeface="Garamond" panose="02020404030301010803" pitchFamily="18" charset="0"/>
                <a:cs typeface="Futura Medium" panose="020B0602020204020303" pitchFamily="34" charset="-79"/>
                <a:sym typeface="Garamond"/>
              </a:rPr>
              <a:t>Key Metrics</a:t>
            </a:r>
            <a:endParaRPr lang="en-GB" sz="2000" b="1">
              <a:solidFill>
                <a:srgbClr val="102747"/>
              </a:solidFill>
              <a:latin typeface="Garamond" panose="02020404030301010803" pitchFamily="18" charset="0"/>
              <a:cs typeface="Futura Medium" panose="020B0602020204020303" pitchFamily="34" charset="-79"/>
              <a:sym typeface="Play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5"/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Picture 2" descr="undefined">
            <a:extLst>
              <a:ext uri="{FF2B5EF4-FFF2-40B4-BE49-F238E27FC236}">
                <a16:creationId xmlns:a16="http://schemas.microsoft.com/office/drawing/2014/main" id="{C57AA979-65F2-7A84-CEB1-10A6D3B7B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952" y="1552128"/>
            <a:ext cx="3755198" cy="375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99;p5">
            <a:extLst>
              <a:ext uri="{FF2B5EF4-FFF2-40B4-BE49-F238E27FC236}">
                <a16:creationId xmlns:a16="http://schemas.microsoft.com/office/drawing/2014/main" id="{47F1C6EE-4533-3E5E-1A2D-6446FCB53C89}"/>
              </a:ext>
            </a:extLst>
          </p:cNvPr>
          <p:cNvSpPr txBox="1"/>
          <p:nvPr/>
        </p:nvSpPr>
        <p:spPr>
          <a:xfrm>
            <a:off x="471203" y="6275388"/>
            <a:ext cx="3714717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lvl="0"/>
            <a:r>
              <a:rPr lang="en-GB" sz="900" err="1">
                <a:solidFill>
                  <a:srgbClr val="757575"/>
                </a:solidFill>
              </a:rPr>
              <a:t>Koyfin</a:t>
            </a:r>
            <a:r>
              <a:rPr lang="en-GB" sz="900">
                <a:solidFill>
                  <a:srgbClr val="757575"/>
                </a:solidFill>
              </a:rPr>
              <a:t>, Refinitiv, </a:t>
            </a:r>
            <a:r>
              <a:rPr lang="en-GB" sz="900" err="1">
                <a:solidFill>
                  <a:srgbClr val="757575"/>
                </a:solidFill>
              </a:rPr>
              <a:t>YahooFinance</a:t>
            </a:r>
            <a:r>
              <a:rPr lang="en-GB" sz="900">
                <a:solidFill>
                  <a:srgbClr val="757575"/>
                </a:solidFill>
              </a:rPr>
              <a:t>, as of 29.03.2026</a:t>
            </a:r>
          </a:p>
        </p:txBody>
      </p:sp>
    </p:spTree>
    <p:extLst>
      <p:ext uri="{BB962C8B-B14F-4D97-AF65-F5344CB8AC3E}">
        <p14:creationId xmlns:p14="http://schemas.microsoft.com/office/powerpoint/2010/main" val="2833689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>
            <a:spLocks noGrp="1"/>
          </p:cNvSpPr>
          <p:nvPr>
            <p:ph type="title"/>
          </p:nvPr>
        </p:nvSpPr>
        <p:spPr>
          <a:xfrm>
            <a:off x="476250" y="365125"/>
            <a:ext cx="98185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r>
              <a:rPr lang="en-GB" sz="2000" b="1">
                <a:solidFill>
                  <a:srgbClr val="102747"/>
                </a:solidFill>
                <a:latin typeface="Garamond"/>
              </a:rPr>
              <a:t>SEI at a Glance</a:t>
            </a:r>
          </a:p>
        </p:txBody>
      </p:sp>
      <p:sp>
        <p:nvSpPr>
          <p:cNvPr id="166" name="Google Shape;166;p4"/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>
            <a:spLocks noGrp="1"/>
          </p:cNvSpPr>
          <p:nvPr>
            <p:ph type="sldNum" idx="12"/>
          </p:nvPr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lt1"/>
                </a:solidFill>
              </a:rPr>
              <a:t>3</a:t>
            </a:fld>
            <a:endParaRPr lang="en-GB">
              <a:solidFill>
                <a:schemeClr val="lt1"/>
              </a:solidFill>
            </a:endParaRPr>
          </a:p>
        </p:txBody>
      </p:sp>
      <p:cxnSp>
        <p:nvCxnSpPr>
          <p:cNvPr id="169" name="Google Shape;169;p4"/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0" name="Google Shape;17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6937" y="367271"/>
            <a:ext cx="960000" cy="701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4"/>
          <p:cNvGrpSpPr/>
          <p:nvPr/>
        </p:nvGrpSpPr>
        <p:grpSpPr>
          <a:xfrm>
            <a:off x="2372066" y="1649687"/>
            <a:ext cx="1357954" cy="1555959"/>
            <a:chOff x="238035" y="1716255"/>
            <a:chExt cx="1357954" cy="1555959"/>
          </a:xfrm>
        </p:grpSpPr>
        <p:pic>
          <p:nvPicPr>
            <p:cNvPr id="172" name="Google Shape;172;p4" descr="Daily calendar outlin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7012" y="1716255"/>
              <a:ext cx="720000" cy="72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4"/>
            <p:cNvSpPr txBox="1"/>
            <p:nvPr/>
          </p:nvSpPr>
          <p:spPr>
            <a:xfrm>
              <a:off x="238035" y="2533591"/>
              <a:ext cx="1357954" cy="738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Founded in </a:t>
              </a:r>
              <a:r>
                <a:rPr lang="en-GB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1968</a:t>
              </a:r>
              <a:br>
                <a:rPr lang="en-GB" sz="1400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</a:br>
              <a:endPara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174" name="Google Shape;174;p4"/>
          <p:cNvGrpSpPr/>
          <p:nvPr/>
        </p:nvGrpSpPr>
        <p:grpSpPr>
          <a:xfrm>
            <a:off x="3919175" y="1675012"/>
            <a:ext cx="1408950" cy="1673510"/>
            <a:chOff x="1824559" y="1716927"/>
            <a:chExt cx="1408950" cy="1673510"/>
          </a:xfrm>
        </p:grpSpPr>
        <p:pic>
          <p:nvPicPr>
            <p:cNvPr id="175" name="Google Shape;175;p4" descr="Marker outline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74829" y="1716927"/>
              <a:ext cx="720000" cy="72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4"/>
            <p:cNvSpPr txBox="1"/>
            <p:nvPr/>
          </p:nvSpPr>
          <p:spPr>
            <a:xfrm>
              <a:off x="1824559" y="2436330"/>
              <a:ext cx="1408950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HQ: </a:t>
              </a:r>
              <a:endPara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Pennsylvania,</a:t>
              </a:r>
              <a:endParaRPr lang="en-GB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United States</a:t>
              </a:r>
              <a:br>
                <a:rPr lang="en-GB" sz="1400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</a:br>
              <a:endPara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177" name="Google Shape;177;p4"/>
          <p:cNvGrpSpPr/>
          <p:nvPr/>
        </p:nvGrpSpPr>
        <p:grpSpPr>
          <a:xfrm>
            <a:off x="8289352" y="1703700"/>
            <a:ext cx="1651749" cy="1345369"/>
            <a:chOff x="6466796" y="1711797"/>
            <a:chExt cx="1651749" cy="1345369"/>
          </a:xfrm>
        </p:grpSpPr>
        <p:pic>
          <p:nvPicPr>
            <p:cNvPr id="178" name="Google Shape;178;p4" descr="Male profile outlin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934244" y="1711797"/>
              <a:ext cx="720000" cy="72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4"/>
            <p:cNvSpPr txBox="1"/>
            <p:nvPr/>
          </p:nvSpPr>
          <p:spPr>
            <a:xfrm>
              <a:off x="6466796" y="2533986"/>
              <a:ext cx="1651749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CEO: </a:t>
              </a:r>
              <a:endParaRPr lang="en-GB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Ryan Hicke</a:t>
              </a:r>
            </a:p>
          </p:txBody>
        </p:sp>
      </p:grpSp>
      <p:sp>
        <p:nvSpPr>
          <p:cNvPr id="180" name="Google Shape;180;p4"/>
          <p:cNvSpPr/>
          <p:nvPr/>
        </p:nvSpPr>
        <p:spPr>
          <a:xfrm>
            <a:off x="471203" y="3208116"/>
            <a:ext cx="11245855" cy="297661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568712" y="3277544"/>
            <a:ext cx="11063845" cy="272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1600">
                <a:latin typeface="Garamond"/>
              </a:rPr>
              <a:t>SEI provides financial technology, investment operations, and asset-management services to institutions, banks, and advisors. Its platform includes custody, fund administration, outsourced back-office processing, and portfolio technology.</a:t>
            </a:r>
            <a:endParaRPr lang="en-GB" sz="1600"/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1600">
                <a:latin typeface="Garamond"/>
              </a:rPr>
              <a:t>The company operates globally, with service </a:t>
            </a:r>
            <a:r>
              <a:rPr lang="en-GB" sz="1600" err="1">
                <a:latin typeface="Garamond"/>
              </a:rPr>
              <a:t>centers</a:t>
            </a:r>
            <a:r>
              <a:rPr lang="en-GB" sz="1600">
                <a:latin typeface="Garamond"/>
              </a:rPr>
              <a:t> in the U.S., UK, Ireland, and other regions. However, the business is strongly U.S.-focused: in 2024, about 85.5% of revenue came from the United States, followed by smaller contributions from the UK, Ireland, Canada, and Luxembourg.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1600">
                <a:latin typeface="Garamond"/>
              </a:rPr>
              <a:t>It earns mostly recurring fees from asset management/administration and software/processing services. Revenues are linked to AUM/AUA or assets processed on its platforms, making the model stable and sticky. Around 55% of revenue comes from operations/processing and ~40% from asset management.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1600">
                <a:latin typeface="Garamond"/>
              </a:rPr>
              <a:t>SEI operates in a competitive market, facing custodians, advisor tech platforms, and asset managers such as Charles Schwab, Fidelity, Envestnet, and LPL Financial. It differentiates itself through its integrated platform and outsourcing capabilities.</a:t>
            </a:r>
          </a:p>
        </p:txBody>
      </p:sp>
      <p:grpSp>
        <p:nvGrpSpPr>
          <p:cNvPr id="182" name="Google Shape;182;p4"/>
          <p:cNvGrpSpPr/>
          <p:nvPr/>
        </p:nvGrpSpPr>
        <p:grpSpPr>
          <a:xfrm>
            <a:off x="5292801" y="1683741"/>
            <a:ext cx="2996551" cy="1555726"/>
            <a:chOff x="3462079" y="1715243"/>
            <a:chExt cx="2996551" cy="1555726"/>
          </a:xfrm>
        </p:grpSpPr>
        <p:sp>
          <p:nvSpPr>
            <p:cNvPr id="183" name="Google Shape;183;p4"/>
            <p:cNvSpPr txBox="1"/>
            <p:nvPr/>
          </p:nvSpPr>
          <p:spPr>
            <a:xfrm>
              <a:off x="3462079" y="2532346"/>
              <a:ext cx="2996551" cy="7386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  <a:t>Financial technology, outsourcing &amp; asset management</a:t>
              </a:r>
              <a:br>
                <a:rPr lang="en-GB" sz="1400">
                  <a:solidFill>
                    <a:schemeClr val="dk1"/>
                  </a:solidFill>
                  <a:latin typeface="Garamond"/>
                  <a:ea typeface="Garamond"/>
                  <a:cs typeface="Garamond"/>
                  <a:sym typeface="Garamond"/>
                </a:rPr>
              </a:br>
              <a:endPara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184" name="Google Shape;184;p4" descr="Banca contorno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592059" y="1715243"/>
              <a:ext cx="733702" cy="7287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" name="Google Shape;185;p4"/>
          <p:cNvSpPr/>
          <p:nvPr/>
        </p:nvSpPr>
        <p:spPr>
          <a:xfrm>
            <a:off x="471203" y="1304364"/>
            <a:ext cx="11161354" cy="2772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 overview</a:t>
            </a:r>
            <a:endParaRPr lang="en-GB"/>
          </a:p>
        </p:txBody>
      </p:sp>
      <p:sp>
        <p:nvSpPr>
          <p:cNvPr id="2" name="Google Shape;199;p5">
            <a:extLst>
              <a:ext uri="{FF2B5EF4-FFF2-40B4-BE49-F238E27FC236}">
                <a16:creationId xmlns:a16="http://schemas.microsoft.com/office/drawing/2014/main" id="{3D72AAC1-8262-5EDD-9E4F-FAE2CACC1658}"/>
              </a:ext>
            </a:extLst>
          </p:cNvPr>
          <p:cNvSpPr txBox="1"/>
          <p:nvPr/>
        </p:nvSpPr>
        <p:spPr>
          <a:xfrm>
            <a:off x="471203" y="6275388"/>
            <a:ext cx="3714717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lvl="0"/>
            <a:r>
              <a:rPr lang="en-GB" sz="900">
                <a:solidFill>
                  <a:srgbClr val="757575"/>
                </a:solidFill>
              </a:rPr>
              <a:t>SEI Investments Co. 10-K </a:t>
            </a:r>
          </a:p>
        </p:txBody>
      </p:sp>
    </p:spTree>
    <p:extLst>
      <p:ext uri="{BB962C8B-B14F-4D97-AF65-F5344CB8AC3E}">
        <p14:creationId xmlns:p14="http://schemas.microsoft.com/office/powerpoint/2010/main" val="321542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>
            <a:spLocks noGrp="1"/>
          </p:cNvSpPr>
          <p:nvPr>
            <p:ph type="sldNum" idx="12"/>
          </p:nvPr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lt1"/>
                </a:solidFill>
              </a:rPr>
              <a:t>4</a:t>
            </a:fld>
            <a:endParaRPr lang="en-GB">
              <a:solidFill>
                <a:schemeClr val="lt1"/>
              </a:solidFill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71203" y="1683298"/>
            <a:ext cx="11263596" cy="2772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 Management </a:t>
            </a:r>
          </a:p>
        </p:txBody>
      </p:sp>
      <p:pic>
        <p:nvPicPr>
          <p:cNvPr id="193" name="Google Shape;19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799" y="365125"/>
            <a:ext cx="960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5"/>
          <p:cNvSpPr/>
          <p:nvPr/>
        </p:nvSpPr>
        <p:spPr>
          <a:xfrm>
            <a:off x="471203" y="2075257"/>
            <a:ext cx="11263596" cy="3036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24726" y="2266394"/>
            <a:ext cx="10920523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indent="-228600">
              <a:lnSpc>
                <a:spcPct val="90000"/>
              </a:lnSpc>
              <a:buClr>
                <a:schemeClr val="dk1"/>
              </a:buClr>
              <a:buSzPct val="100000"/>
              <a:buChar char="•"/>
            </a:pPr>
            <a:r>
              <a:rPr lang="en-GB" sz="1600">
                <a:latin typeface="Garamond"/>
              </a:rPr>
              <a:t>SEI is led by CEO Ryan Hicke, a 27-year company veteran and former CIO, supported by an experienced leadership team across its main business lines.</a:t>
            </a:r>
          </a:p>
          <a:p>
            <a:pPr marL="228600" lvl="0" indent="-228600">
              <a:lnSpc>
                <a:spcPct val="90000"/>
              </a:lnSpc>
              <a:buClr>
                <a:schemeClr val="dk1"/>
              </a:buClr>
              <a:buSzPts val="2800"/>
              <a:buChar char="•"/>
            </a:pPr>
            <a:endParaRPr lang="en-GB" sz="1600">
              <a:latin typeface="Garamond" panose="02020404030301010803" pitchFamily="18" charset="0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1600">
                <a:latin typeface="Garamond"/>
              </a:rPr>
              <a:t>Founder influence remains, but SEI is no longer founder-run. Alfred P. West Jr. founded the company in 1968, stepped down as CEO in 2022, and became Chairman Emeritus in 2026.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800"/>
            </a:pPr>
            <a:endParaRPr lang="en-GB" sz="1600">
              <a:latin typeface="Garamond" panose="02020404030301010803" pitchFamily="18" charset="0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1600">
                <a:latin typeface="Garamond"/>
              </a:rPr>
              <a:t>Management is aligned with shareholders. Executives and directors owned 14.6% of SEI, and the company requires meaningful equity ownership from senior leaders.</a:t>
            </a: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ts val="2800"/>
              <a:buFont typeface="Arial"/>
              <a:buChar char="•"/>
            </a:pPr>
            <a:endParaRPr lang="en-GB" sz="1600">
              <a:latin typeface="Garamond" panose="02020404030301010803" pitchFamily="18" charset="0"/>
            </a:endParaRPr>
          </a:p>
          <a:p>
            <a:pPr marL="228600" indent="-228600">
              <a:lnSpc>
                <a:spcPct val="90000"/>
              </a:lnSpc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1600">
                <a:latin typeface="Garamond"/>
              </a:rPr>
              <a:t>Family influence is still present, but capital allocation is shareholder-friendly. Loralee West owns 10.0%, and SEI returned about $632.8M through dividends and buybacks in 2024.</a:t>
            </a:r>
          </a:p>
        </p:txBody>
      </p:sp>
      <p:sp>
        <p:nvSpPr>
          <p:cNvPr id="196" name="Google Shape;196;p5"/>
          <p:cNvSpPr txBox="1"/>
          <p:nvPr/>
        </p:nvSpPr>
        <p:spPr>
          <a:xfrm>
            <a:off x="476250" y="365125"/>
            <a:ext cx="9820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2000"/>
              <a:buFont typeface="Garamond"/>
              <a:buNone/>
            </a:pPr>
            <a:r>
              <a:rPr lang="en-GB" sz="2000" b="1">
                <a:solidFill>
                  <a:srgbClr val="102747"/>
                </a:solidFill>
                <a:latin typeface="Garamond"/>
                <a:ea typeface="Garamond"/>
                <a:cs typeface="Garamond"/>
                <a:sym typeface="Garamond"/>
              </a:rPr>
              <a:t>Leadership &amp; Governance</a:t>
            </a:r>
            <a:endParaRPr lang="en-GB"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5"/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9" name="Google Shape;199;p5"/>
          <p:cNvSpPr txBox="1"/>
          <p:nvPr/>
        </p:nvSpPr>
        <p:spPr>
          <a:xfrm>
            <a:off x="471203" y="5599177"/>
            <a:ext cx="3714717" cy="169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lvl="0"/>
            <a:endParaRPr lang="en-GB" sz="900">
              <a:solidFill>
                <a:srgbClr val="757575"/>
              </a:solidFill>
            </a:endParaRPr>
          </a:p>
          <a:p>
            <a:pPr lvl="0"/>
            <a:r>
              <a:rPr lang="en-GB" sz="900">
                <a:solidFill>
                  <a:srgbClr val="757575"/>
                </a:solidFill>
              </a:rPr>
              <a:t>SEI Investments Company 2025 Proxy Statement (DEF 14A); SEI Investments Company 2024 Annual Report (Form 10-K); SEI Investor Relations.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0609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>
            <a:spLocks noGrp="1"/>
          </p:cNvSpPr>
          <p:nvPr>
            <p:ph type="title"/>
          </p:nvPr>
        </p:nvSpPr>
        <p:spPr>
          <a:xfrm>
            <a:off x="476250" y="365125"/>
            <a:ext cx="9820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buClr>
                <a:srgbClr val="102747"/>
              </a:buClr>
              <a:buSzPts val="2000"/>
            </a:pPr>
            <a:r>
              <a:rPr lang="en-GB" sz="2000" b="1">
                <a:solidFill>
                  <a:srgbClr val="102747"/>
                </a:solidFill>
                <a:latin typeface="Garamond"/>
                <a:ea typeface="Garamond"/>
                <a:cs typeface="Garamond"/>
                <a:sym typeface="Garamond"/>
              </a:rPr>
              <a:t>Competitive Landscape &amp; Pricing Power</a:t>
            </a:r>
            <a:endParaRPr lang="en-GB" sz="2000" b="1">
              <a:solidFill>
                <a:srgbClr val="FF0000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>
            <a:spLocks noGrp="1"/>
          </p:cNvSpPr>
          <p:nvPr>
            <p:ph type="sldNum" idx="12"/>
          </p:nvPr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lt1"/>
                </a:solidFill>
              </a:rPr>
              <a:t>5</a:t>
            </a:fld>
            <a:endParaRPr lang="en-GB">
              <a:solidFill>
                <a:schemeClr val="lt1"/>
              </a:solidFill>
            </a:endParaRPr>
          </a:p>
        </p:txBody>
      </p:sp>
      <p:cxnSp>
        <p:nvCxnSpPr>
          <p:cNvPr id="242" name="Google Shape;242;p8"/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3" name="Google Shape;24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799" y="365125"/>
            <a:ext cx="960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4269303" y="1602840"/>
            <a:ext cx="3654822" cy="438371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76250" y="1602839"/>
            <a:ext cx="3637874" cy="438371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609563" y="1955994"/>
            <a:ext cx="3360271" cy="393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7800" indent="-177800">
              <a:lnSpc>
                <a:spcPct val="90000"/>
              </a:lnSpc>
              <a:buClr>
                <a:srgbClr val="102747"/>
              </a:buClr>
              <a:buSzPts val="1400"/>
            </a:pPr>
            <a:r>
              <a:rPr lang="en-GB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Closest competitors</a:t>
            </a:r>
            <a:r>
              <a:rPr lang="en-GB" sz="1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  <a:buFont typeface="Garamond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sym typeface="Garamond"/>
              </a:rPr>
              <a:t>SS&amp;C Technologies</a:t>
            </a:r>
            <a:endParaRPr lang="en-GB" sz="1100" dirty="0">
              <a:solidFill>
                <a:schemeClr val="dk1"/>
              </a:solidFill>
              <a:ea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  <a:buFont typeface="Garamond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sym typeface="Garamond"/>
              </a:rPr>
              <a:t>Broadridge Financial Solutions</a:t>
            </a:r>
            <a:endParaRPr lang="en-GB" sz="1100" dirty="0">
              <a:solidFill>
                <a:schemeClr val="dk1"/>
              </a:solidFill>
              <a:ea typeface="Garamond"/>
            </a:endParaRPr>
          </a:p>
          <a:p>
            <a:pPr marL="177800" marR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Garamond"/>
              <a:buNone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Envestnet</a:t>
            </a:r>
            <a:endParaRPr lang="en-GB" sz="1400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</a:pPr>
            <a:r>
              <a:rPr lang="en-GB" dirty="0">
                <a:solidFill>
                  <a:schemeClr val="dk1"/>
                </a:solidFill>
                <a:latin typeface="Garamond"/>
              </a:rPr>
              <a:t>• FNZ (private market peer)</a:t>
            </a:r>
            <a:endParaRPr lang="en-GB" dirty="0"/>
          </a:p>
          <a:p>
            <a:pPr marL="177800" indent="-177800">
              <a:lnSpc>
                <a:spcPct val="90000"/>
              </a:lnSpc>
              <a:spcBef>
                <a:spcPts val="1000"/>
              </a:spcBef>
            </a:pPr>
            <a:endParaRPr lang="en-GB" dirty="0">
              <a:solidFill>
                <a:schemeClr val="dk1"/>
              </a:solidFill>
              <a:ea typeface="Garamond"/>
              <a:sym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Similar service offerings</a:t>
            </a:r>
            <a:r>
              <a:rPr lang="en-GB" sz="1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  <a:endParaRPr lang="en-GB" sz="1400" b="1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BNY Mellon </a:t>
            </a:r>
            <a:endParaRPr lang="en-GB" sz="1400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State Street Corporation</a:t>
            </a:r>
            <a:endParaRPr lang="en-GB" sz="1400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Northern Trust</a:t>
            </a:r>
            <a:br>
              <a:rPr lang="en-GB" sz="1400" dirty="0">
                <a:latin typeface="Garamond"/>
                <a:ea typeface="Garamond"/>
                <a:cs typeface="Garamond"/>
              </a:rPr>
            </a:br>
            <a:endParaRPr lang="en-GB" sz="1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177800" marR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Garamond"/>
              <a:buNone/>
            </a:pPr>
            <a:endParaRPr lang="en-GB" sz="1400" b="1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marR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Garamond"/>
              <a:buNone/>
            </a:pPr>
            <a:endParaRPr lang="en-GB" sz="1400" b="1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4438185" y="1855523"/>
            <a:ext cx="3367669" cy="3546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7800" indent="-177800">
              <a:lnSpc>
                <a:spcPct val="90000"/>
              </a:lnSpc>
              <a:buClr>
                <a:srgbClr val="102747"/>
              </a:buClr>
              <a:buSzPts val="1400"/>
            </a:pPr>
            <a:r>
              <a:rPr lang="en-GB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Global trend</a:t>
            </a:r>
            <a:r>
              <a:rPr lang="en-GB" sz="1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Financial institutions seek to reduce costs</a:t>
            </a:r>
            <a:endParaRPr lang="en-GB" sz="1400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  <a:buFont typeface="Garamond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sym typeface="Garamond"/>
              </a:rPr>
              <a:t>Demand for outsourced investment operations and integrated technology platform</a:t>
            </a:r>
            <a:endParaRPr lang="en-GB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dirty="0">
                <a:latin typeface="Garamond"/>
                <a:ea typeface="Garamond"/>
                <a:cs typeface="Garamond"/>
              </a:rPr>
              <a:t> =&gt; Shift towards </a:t>
            </a:r>
            <a:r>
              <a:rPr lang="en-GB" dirty="0">
                <a:latin typeface="Garamond"/>
                <a:ea typeface="Garamond"/>
              </a:rPr>
              <a:t>platform-based solutions</a:t>
            </a:r>
            <a:br>
              <a:rPr lang="en-GB" sz="1400" dirty="0">
                <a:latin typeface="Garamond"/>
                <a:ea typeface="Garamond"/>
                <a:cs typeface="Garamond"/>
              </a:rPr>
            </a:br>
            <a:endParaRPr lang="en-GB" sz="1400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End-to-end platform</a:t>
            </a:r>
            <a:r>
              <a:rPr lang="en-GB" sz="1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:</a:t>
            </a:r>
            <a:endParaRPr lang="en-GB" dirty="0">
              <a:solidFill>
                <a:schemeClr val="dk1"/>
              </a:solidFill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Large ecosystem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sym typeface="Garamond"/>
              </a:rPr>
              <a:t>combines technology, investment solutions, and outsourced operations</a:t>
            </a:r>
            <a:endParaRPr lang="en-GB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Embedded inside clients’ daily operations</a:t>
            </a:r>
            <a:endParaRPr lang="en-GB" sz="1400" dirty="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SzPts val="1400"/>
            </a:pPr>
            <a:endParaRPr lang="en-GB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endParaRPr lang="en-GB" b="1" dirty="0">
              <a:solidFill>
                <a:schemeClr val="dk1"/>
              </a:solidFill>
              <a:latin typeface="Garamond"/>
              <a:ea typeface="Garamond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468158" y="1272882"/>
            <a:ext cx="3648673" cy="25770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Competitors</a:t>
            </a: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270381" y="1272882"/>
            <a:ext cx="3648673" cy="25770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Structural Advantages</a:t>
            </a: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8067396" y="1602839"/>
            <a:ext cx="3654822" cy="438371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8207178" y="1762095"/>
            <a:ext cx="3375258" cy="412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7800" marR="0" lvl="0" indent="-177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High client retention</a:t>
            </a:r>
            <a:endParaRPr lang="en-GB">
              <a:solidFill>
                <a:schemeClr val="dk1"/>
              </a:solidFill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r>
              <a: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Pricing durability (switching is disruptive and risky, so fees are unchanged)</a:t>
            </a: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SzPts val="1400"/>
            </a:pPr>
            <a:r>
              <a:rPr lang="en-GB">
                <a:latin typeface="Garamond"/>
                <a:ea typeface="Garamond"/>
                <a:cs typeface="Garamond"/>
              </a:rPr>
              <a:t>=&gt; This explains strong earnings</a:t>
            </a:r>
            <a:br>
              <a:rPr lang="en-GB" sz="1400">
                <a:latin typeface="Garamond"/>
                <a:ea typeface="Garamond"/>
                <a:cs typeface="Garamond"/>
              </a:rPr>
            </a:br>
            <a:endParaRPr lang="en-GB" sz="140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  <a:buFont typeface="Garamond"/>
            </a:pPr>
            <a:r>
              <a: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GB">
                <a:solidFill>
                  <a:schemeClr val="dk1"/>
                </a:solidFill>
                <a:latin typeface="Garamond"/>
                <a:ea typeface="Garamond"/>
                <a:sym typeface="Garamond"/>
              </a:rPr>
              <a:t>Strong margins (better profitability than many traditional asset managers)</a:t>
            </a:r>
            <a:endParaRPr lang="en-GB" sz="140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SzPts val="1400"/>
              <a:buFont typeface="Garamond"/>
            </a:pPr>
            <a:endParaRPr lang="en-GB">
              <a:solidFill>
                <a:schemeClr val="dk1"/>
              </a:solidFill>
              <a:latin typeface="Garamond"/>
              <a:ea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</a:pPr>
            <a:r>
              <a:rPr lang="en-GB" b="1">
                <a:solidFill>
                  <a:schemeClr val="dk1"/>
                </a:solidFill>
                <a:latin typeface="Garamond"/>
                <a:ea typeface="Garamond"/>
              </a:rPr>
              <a:t>Institutional Relationships :</a:t>
            </a:r>
            <a:endParaRPr lang="en-GB">
              <a:solidFill>
                <a:schemeClr val="dk1"/>
              </a:solidFill>
              <a:latin typeface="Garamond"/>
              <a:ea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</a:pPr>
            <a:r>
              <a:rPr lang="en-GB">
                <a:solidFill>
                  <a:schemeClr val="dk1"/>
                </a:solidFill>
                <a:latin typeface="Garamond"/>
                <a:ea typeface="Garamond"/>
              </a:rPr>
              <a:t>• Serves 8 of the top 20 US banks </a:t>
            </a:r>
          </a:p>
          <a:p>
            <a:pPr marL="177800" indent="-177800">
              <a:lnSpc>
                <a:spcPct val="90000"/>
              </a:lnSpc>
              <a:spcBef>
                <a:spcPts val="1000"/>
              </a:spcBef>
            </a:pPr>
            <a:r>
              <a:rPr lang="en-GB">
                <a:solidFill>
                  <a:schemeClr val="dk1"/>
                </a:solidFill>
                <a:latin typeface="Garamond"/>
                <a:ea typeface="Garamond"/>
              </a:rPr>
              <a:t>• 43 of top 100 investment managers </a:t>
            </a:r>
            <a:endParaRPr lang="en-US">
              <a:solidFill>
                <a:schemeClr val="dk1"/>
              </a:solidFill>
              <a:latin typeface="Garamond"/>
              <a:ea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</a:pPr>
            <a:r>
              <a:rPr lang="en-GB">
                <a:solidFill>
                  <a:schemeClr val="dk1"/>
                </a:solidFill>
                <a:latin typeface="Garamond"/>
                <a:ea typeface="Garamond"/>
              </a:rPr>
              <a:t>• Signals trust and credibility</a:t>
            </a:r>
          </a:p>
          <a:p>
            <a:pPr marL="177800" marR="0" lvl="0" indent="-177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Garamond"/>
              <a:buNone/>
            </a:pPr>
            <a:endParaRPr lang="en-GB" sz="1400">
              <a:solidFill>
                <a:schemeClr val="dk1"/>
              </a:solidFill>
              <a:latin typeface="Garamond"/>
              <a:ea typeface="Garamond"/>
            </a:endParaRPr>
          </a:p>
          <a:p>
            <a:pPr marL="177800" indent="-177800">
              <a:lnSpc>
                <a:spcPct val="90000"/>
              </a:lnSpc>
              <a:spcBef>
                <a:spcPts val="1000"/>
              </a:spcBef>
              <a:buClr>
                <a:srgbClr val="102747"/>
              </a:buClr>
              <a:buSzPts val="1400"/>
            </a:pPr>
            <a:endParaRPr lang="en-GB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8078243" y="1272882"/>
            <a:ext cx="3648673" cy="25770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Competitive Outcomes</a:t>
            </a: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81;p10">
            <a:extLst>
              <a:ext uri="{FF2B5EF4-FFF2-40B4-BE49-F238E27FC236}">
                <a16:creationId xmlns:a16="http://schemas.microsoft.com/office/drawing/2014/main" id="{BB959F81-E120-F35A-57B1-207A80F4F9A9}"/>
              </a:ext>
            </a:extLst>
          </p:cNvPr>
          <p:cNvSpPr txBox="1">
            <a:spLocks/>
          </p:cNvSpPr>
          <p:nvPr/>
        </p:nvSpPr>
        <p:spPr>
          <a:xfrm>
            <a:off x="471203" y="6242842"/>
            <a:ext cx="3714717" cy="43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l"/>
            <a:r>
              <a:rPr lang="en-GB" sz="900"/>
              <a:t>SEI Investments Company 2025 Annual Report (Form 10-K); SEI Investor Relations.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77F5-8AF2-CA51-E912-4B1DB5D2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;p10">
            <a:extLst>
              <a:ext uri="{FF2B5EF4-FFF2-40B4-BE49-F238E27FC236}">
                <a16:creationId xmlns:a16="http://schemas.microsoft.com/office/drawing/2014/main" id="{CFF8EA6A-537D-204E-551F-27FFABAB06BD}"/>
              </a:ext>
            </a:extLst>
          </p:cNvPr>
          <p:cNvSpPr txBox="1"/>
          <p:nvPr/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GB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Google Shape;280;p10">
            <a:extLst>
              <a:ext uri="{FF2B5EF4-FFF2-40B4-BE49-F238E27FC236}">
                <a16:creationId xmlns:a16="http://schemas.microsoft.com/office/drawing/2014/main" id="{38FABA2D-BB3F-5E86-CEE3-9B21C5A44A93}"/>
              </a:ext>
            </a:extLst>
          </p:cNvPr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" name="Google Shape;289;p11">
            <a:extLst>
              <a:ext uri="{FF2B5EF4-FFF2-40B4-BE49-F238E27FC236}">
                <a16:creationId xmlns:a16="http://schemas.microsoft.com/office/drawing/2014/main" id="{0C2DFAD4-5752-E806-43ED-DCC9401278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799" y="365125"/>
            <a:ext cx="960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77;p10">
            <a:extLst>
              <a:ext uri="{FF2B5EF4-FFF2-40B4-BE49-F238E27FC236}">
                <a16:creationId xmlns:a16="http://schemas.microsoft.com/office/drawing/2014/main" id="{FA5CDF44-CE57-0490-D1B4-E50526FD5033}"/>
              </a:ext>
            </a:extLst>
          </p:cNvPr>
          <p:cNvSpPr txBox="1"/>
          <p:nvPr/>
        </p:nvSpPr>
        <p:spPr>
          <a:xfrm>
            <a:off x="476250" y="365125"/>
            <a:ext cx="9820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2000"/>
              <a:buFont typeface="Garamond"/>
              <a:buNone/>
            </a:pPr>
            <a:r>
              <a:rPr lang="en-GB" sz="2000" b="1">
                <a:solidFill>
                  <a:srgbClr val="102747"/>
                </a:solidFill>
                <a:latin typeface="Garamond"/>
                <a:ea typeface="Garamond"/>
                <a:cs typeface="Garamond"/>
                <a:sym typeface="Garamond"/>
              </a:rPr>
              <a:t>Financial Overview – Income Statement and Cash Flow</a:t>
            </a:r>
            <a:endParaRPr lang="en-GB"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" name="Google Shape;278;p10">
            <a:extLst>
              <a:ext uri="{FF2B5EF4-FFF2-40B4-BE49-F238E27FC236}">
                <a16:creationId xmlns:a16="http://schemas.microsoft.com/office/drawing/2014/main" id="{351EC062-4026-DC69-3AAC-8336E365EADF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88;p11">
            <a:extLst>
              <a:ext uri="{FF2B5EF4-FFF2-40B4-BE49-F238E27FC236}">
                <a16:creationId xmlns:a16="http://schemas.microsoft.com/office/drawing/2014/main" id="{15F3BBB8-B66F-60AA-3014-3123DD1B1420}"/>
              </a:ext>
            </a:extLst>
          </p:cNvPr>
          <p:cNvSpPr/>
          <p:nvPr/>
        </p:nvSpPr>
        <p:spPr>
          <a:xfrm>
            <a:off x="471203" y="1184852"/>
            <a:ext cx="8024676" cy="2556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r>
              <a:rPr lang="en-GB" sz="1600">
                <a:solidFill>
                  <a:srgbClr val="FFFFFF"/>
                </a:solidFill>
                <a:latin typeface="Garamond" panose="02020404030301010803" pitchFamily="18" charset="0"/>
              </a:rPr>
              <a:t>FY2016–2025 Income Trend  ·  2025 Segment Revenue &amp; Margins  ·  USD Millions</a:t>
            </a:r>
          </a:p>
        </p:txBody>
      </p:sp>
      <p:sp>
        <p:nvSpPr>
          <p:cNvPr id="24" name="Google Shape;288;p11">
            <a:extLst>
              <a:ext uri="{FF2B5EF4-FFF2-40B4-BE49-F238E27FC236}">
                <a16:creationId xmlns:a16="http://schemas.microsoft.com/office/drawing/2014/main" id="{41D48FF0-18BE-D912-BAAA-3D0E6CB8A20F}"/>
              </a:ext>
            </a:extLst>
          </p:cNvPr>
          <p:cNvSpPr/>
          <p:nvPr/>
        </p:nvSpPr>
        <p:spPr>
          <a:xfrm>
            <a:off x="8580863" y="3173431"/>
            <a:ext cx="3139934" cy="2556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r>
              <a:rPr lang="en-GB" sz="1600">
                <a:solidFill>
                  <a:srgbClr val="FFFFFF"/>
                </a:solidFill>
                <a:latin typeface="Garamond" panose="02020404030301010803" pitchFamily="18" charset="0"/>
              </a:rPr>
              <a:t>Dividend Analysis</a:t>
            </a:r>
          </a:p>
        </p:txBody>
      </p:sp>
      <p:sp>
        <p:nvSpPr>
          <p:cNvPr id="3" name="Google Shape;321;p13">
            <a:extLst>
              <a:ext uri="{FF2B5EF4-FFF2-40B4-BE49-F238E27FC236}">
                <a16:creationId xmlns:a16="http://schemas.microsoft.com/office/drawing/2014/main" id="{DA6554D3-B545-123C-69E6-1B0AF37E8BAA}"/>
              </a:ext>
            </a:extLst>
          </p:cNvPr>
          <p:cNvSpPr/>
          <p:nvPr/>
        </p:nvSpPr>
        <p:spPr>
          <a:xfrm>
            <a:off x="8580863" y="3547084"/>
            <a:ext cx="3139934" cy="247283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Garamond" panose="02020404030301010803" pitchFamily="18" charset="0"/>
              </a:rPr>
              <a:t>Dividend yield = 1,35%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Garamond" panose="02020404030301010803" pitchFamily="18" charset="0"/>
              </a:rPr>
              <a:t>Dividend growth = 6,32% | 34 year consistent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Garamond" panose="02020404030301010803" pitchFamily="18" charset="0"/>
              </a:rPr>
              <a:t>EPS growth = 10,8% | 4% boost from Div. Growth due to share buyback</a:t>
            </a:r>
          </a:p>
        </p:txBody>
      </p:sp>
      <p:sp>
        <p:nvSpPr>
          <p:cNvPr id="8" name="Google Shape;288;p11">
            <a:extLst>
              <a:ext uri="{FF2B5EF4-FFF2-40B4-BE49-F238E27FC236}">
                <a16:creationId xmlns:a16="http://schemas.microsoft.com/office/drawing/2014/main" id="{83E2AA69-03A2-9427-60EF-75C19C128B9A}"/>
              </a:ext>
            </a:extLst>
          </p:cNvPr>
          <p:cNvSpPr/>
          <p:nvPr/>
        </p:nvSpPr>
        <p:spPr>
          <a:xfrm>
            <a:off x="8594866" y="1184852"/>
            <a:ext cx="3139934" cy="2556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r>
              <a:rPr lang="en-GB" sz="1600">
                <a:solidFill>
                  <a:srgbClr val="FFFFFF"/>
                </a:solidFill>
                <a:latin typeface="Garamond" panose="02020404030301010803" pitchFamily="18" charset="0"/>
              </a:rPr>
              <a:t>Ratios and KPIs</a:t>
            </a:r>
          </a:p>
        </p:txBody>
      </p:sp>
      <p:sp>
        <p:nvSpPr>
          <p:cNvPr id="9" name="Google Shape;321;p13">
            <a:extLst>
              <a:ext uri="{FF2B5EF4-FFF2-40B4-BE49-F238E27FC236}">
                <a16:creationId xmlns:a16="http://schemas.microsoft.com/office/drawing/2014/main" id="{24008C52-4931-3599-34F3-02B5CB41B29D}"/>
              </a:ext>
            </a:extLst>
          </p:cNvPr>
          <p:cNvSpPr/>
          <p:nvPr/>
        </p:nvSpPr>
        <p:spPr>
          <a:xfrm>
            <a:off x="8594866" y="1539762"/>
            <a:ext cx="3139934" cy="145117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>
                <a:latin typeface="Garamond" panose="02020404030301010803" pitchFamily="18" charset="0"/>
              </a:rPr>
              <a:t>Price/Earnings = 13,6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Garamond" panose="02020404030301010803" pitchFamily="18" charset="0"/>
              </a:rPr>
              <a:t>Debt/Equity = 0,01 (Great)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>
                <a:latin typeface="Garamond" panose="02020404030301010803" pitchFamily="18" charset="0"/>
              </a:rPr>
              <a:t>Current Assets/Liabilities = 3,29</a:t>
            </a:r>
          </a:p>
        </p:txBody>
      </p:sp>
      <p:pic>
        <p:nvPicPr>
          <p:cNvPr id="7" name="Image 6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F18393CA-784F-98B6-666A-67780A91B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3" y="1716641"/>
            <a:ext cx="8001458" cy="4402582"/>
          </a:xfrm>
          <a:prstGeom prst="rect">
            <a:avLst/>
          </a:prstGeom>
          <a:ln>
            <a:noFill/>
          </a:ln>
        </p:spPr>
      </p:pic>
      <p:sp>
        <p:nvSpPr>
          <p:cNvPr id="11" name="Google Shape;281;p10">
            <a:extLst>
              <a:ext uri="{FF2B5EF4-FFF2-40B4-BE49-F238E27FC236}">
                <a16:creationId xmlns:a16="http://schemas.microsoft.com/office/drawing/2014/main" id="{F76AB800-F4DD-556C-F43F-8E3282E4C8B0}"/>
              </a:ext>
            </a:extLst>
          </p:cNvPr>
          <p:cNvSpPr txBox="1">
            <a:spLocks/>
          </p:cNvSpPr>
          <p:nvPr/>
        </p:nvSpPr>
        <p:spPr>
          <a:xfrm>
            <a:off x="471203" y="6242842"/>
            <a:ext cx="3714717" cy="43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900"/>
              <a:t>Source: SEIC Income Statement — </a:t>
            </a:r>
            <a:r>
              <a:rPr lang="en-GB" sz="900" err="1"/>
              <a:t>stockanalysis.com</a:t>
            </a:r>
            <a:r>
              <a:rPr lang="en-GB" sz="900"/>
              <a:t>, Thomson Reuters Eikon, SEIC EDGAR Filings</a:t>
            </a:r>
          </a:p>
        </p:txBody>
      </p:sp>
    </p:spTree>
    <p:extLst>
      <p:ext uri="{BB962C8B-B14F-4D97-AF65-F5344CB8AC3E}">
        <p14:creationId xmlns:p14="http://schemas.microsoft.com/office/powerpoint/2010/main" val="2474360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855FCB72-FFCD-A079-4DB7-D456E7689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>
            <a:extLst>
              <a:ext uri="{FF2B5EF4-FFF2-40B4-BE49-F238E27FC236}">
                <a16:creationId xmlns:a16="http://schemas.microsoft.com/office/drawing/2014/main" id="{1CAC2F82-DE9E-64BC-1116-8744C6316B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lt1"/>
                </a:solidFill>
              </a:rPr>
              <a:t>7</a:t>
            </a:fld>
            <a:endParaRPr lang="en-GB">
              <a:solidFill>
                <a:schemeClr val="lt1"/>
              </a:solidFill>
            </a:endParaRPr>
          </a:p>
        </p:txBody>
      </p:sp>
      <p:pic>
        <p:nvPicPr>
          <p:cNvPr id="315" name="Google Shape;315;p13">
            <a:extLst>
              <a:ext uri="{FF2B5EF4-FFF2-40B4-BE49-F238E27FC236}">
                <a16:creationId xmlns:a16="http://schemas.microsoft.com/office/drawing/2014/main" id="{E8F45548-F88A-71A8-64C0-7113C98794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799" y="365125"/>
            <a:ext cx="960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3">
            <a:extLst>
              <a:ext uri="{FF2B5EF4-FFF2-40B4-BE49-F238E27FC236}">
                <a16:creationId xmlns:a16="http://schemas.microsoft.com/office/drawing/2014/main" id="{915EF3C2-7FC5-9E71-8949-995C17BB33CF}"/>
              </a:ext>
            </a:extLst>
          </p:cNvPr>
          <p:cNvSpPr txBox="1"/>
          <p:nvPr/>
        </p:nvSpPr>
        <p:spPr>
          <a:xfrm>
            <a:off x="476250" y="365125"/>
            <a:ext cx="9820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2000"/>
              <a:buFont typeface="Garamond"/>
              <a:buNone/>
            </a:pPr>
            <a:r>
              <a:rPr lang="en-GB" sz="2000" b="1">
                <a:solidFill>
                  <a:srgbClr val="102747"/>
                </a:solidFill>
                <a:latin typeface="Garamond"/>
                <a:ea typeface="Garamond"/>
                <a:cs typeface="Garamond"/>
                <a:sym typeface="Garamond"/>
              </a:rPr>
              <a:t>SEI: a Diversified Player at a Discount</a:t>
            </a:r>
            <a:endParaRPr lang="en-GB"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7" name="Google Shape;317;p13">
            <a:extLst>
              <a:ext uri="{FF2B5EF4-FFF2-40B4-BE49-F238E27FC236}">
                <a16:creationId xmlns:a16="http://schemas.microsoft.com/office/drawing/2014/main" id="{8D9A2656-3581-137B-2903-2E3DD0F2380C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13">
            <a:extLst>
              <a:ext uri="{FF2B5EF4-FFF2-40B4-BE49-F238E27FC236}">
                <a16:creationId xmlns:a16="http://schemas.microsoft.com/office/drawing/2014/main" id="{7DC2A2A3-8B1E-2DCE-8118-E4C599358C7F}"/>
              </a:ext>
            </a:extLst>
          </p:cNvPr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0" name="Google Shape;320;p13">
            <a:extLst>
              <a:ext uri="{FF2B5EF4-FFF2-40B4-BE49-F238E27FC236}">
                <a16:creationId xmlns:a16="http://schemas.microsoft.com/office/drawing/2014/main" id="{1D6508DF-735D-E11A-B643-6408735072ED}"/>
              </a:ext>
            </a:extLst>
          </p:cNvPr>
          <p:cNvSpPr/>
          <p:nvPr/>
        </p:nvSpPr>
        <p:spPr>
          <a:xfrm>
            <a:off x="845711" y="1216360"/>
            <a:ext cx="9945088" cy="264887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Peer Valuation Comparison</a:t>
            </a: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>
            <a:extLst>
              <a:ext uri="{FF2B5EF4-FFF2-40B4-BE49-F238E27FC236}">
                <a16:creationId xmlns:a16="http://schemas.microsoft.com/office/drawing/2014/main" id="{77EB38EE-0DB9-8079-8820-F3978CC5D79B}"/>
              </a:ext>
            </a:extLst>
          </p:cNvPr>
          <p:cNvSpPr/>
          <p:nvPr/>
        </p:nvSpPr>
        <p:spPr>
          <a:xfrm>
            <a:off x="8107680" y="1564272"/>
            <a:ext cx="2683119" cy="4160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r>
              <a:rPr lang="en-GB" sz="1200"/>
              <a:t>Broadridge: near monopoly in proxy processing and regulated client relationships but expensive at ~28x EV/EBITDA.</a:t>
            </a:r>
          </a:p>
          <a:p>
            <a:endParaRPr lang="en-GB" sz="1200"/>
          </a:p>
          <a:p>
            <a:r>
              <a:rPr lang="en-GB" sz="1200"/>
              <a:t>SS&amp;C: more comparable to SEI in EV/EBITDA (~12x) but riskier with substantially more debt (Net Debt/EBITDA ~5x).</a:t>
            </a:r>
          </a:p>
          <a:p>
            <a:endParaRPr lang="en-GB" sz="1200"/>
          </a:p>
          <a:p>
            <a:r>
              <a:rPr lang="en-GB" sz="1200"/>
              <a:t>T. Rowe Price: cheapest on P/E and EV/EBITDA, but pure active asset management with outflow pressure and no technology moat.</a:t>
            </a:r>
          </a:p>
          <a:p>
            <a:endParaRPr lang="en-GB" sz="1200"/>
          </a:p>
          <a:p>
            <a:r>
              <a:rPr lang="en-GB" sz="1200"/>
              <a:t>SEI: cheaper than Broadridge on every metric, better quality than T. Rowe Price, and less leveraged than SS&amp;C, </a:t>
            </a:r>
            <a:r>
              <a:rPr lang="en-GB" sz="1200" b="1"/>
              <a:t>yet priced as if none of those advantages matter.</a:t>
            </a:r>
            <a:r>
              <a:rPr lang="en-CH" sz="1200" b="1"/>
              <a:t> </a:t>
            </a:r>
            <a:endParaRPr lang="en-GB" sz="1200" b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9C57D6-DA4B-4833-A3C9-BDD2BCFDC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11" y="1564272"/>
            <a:ext cx="7160371" cy="4160672"/>
          </a:xfrm>
          <a:prstGeom prst="rect">
            <a:avLst/>
          </a:prstGeom>
        </p:spPr>
      </p:pic>
      <p:sp>
        <p:nvSpPr>
          <p:cNvPr id="3" name="Google Shape;322;p13">
            <a:extLst>
              <a:ext uri="{FF2B5EF4-FFF2-40B4-BE49-F238E27FC236}">
                <a16:creationId xmlns:a16="http://schemas.microsoft.com/office/drawing/2014/main" id="{5C3B8D53-C4BA-2E43-51CD-3C3E2A03E677}"/>
              </a:ext>
            </a:extLst>
          </p:cNvPr>
          <p:cNvSpPr txBox="1">
            <a:spLocks/>
          </p:cNvSpPr>
          <p:nvPr/>
        </p:nvSpPr>
        <p:spPr>
          <a:xfrm>
            <a:off x="471202" y="6263186"/>
            <a:ext cx="3714717" cy="36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900"/>
              <a:t>FinanceCharts, MacroTrends, YahooFinance</a:t>
            </a:r>
          </a:p>
        </p:txBody>
      </p:sp>
    </p:spTree>
    <p:extLst>
      <p:ext uri="{BB962C8B-B14F-4D97-AF65-F5344CB8AC3E}">
        <p14:creationId xmlns:p14="http://schemas.microsoft.com/office/powerpoint/2010/main" val="3612344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97536"/>
            <a:ext cx="1463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SEIC</a:t>
            </a:r>
            <a:endParaRPr lang="en-US" sz="2933"/>
          </a:p>
        </p:txBody>
      </p:sp>
      <p:sp>
        <p:nvSpPr>
          <p:cNvPr id="8" name="Shape 6"/>
          <p:cNvSpPr/>
          <p:nvPr/>
        </p:nvSpPr>
        <p:spPr>
          <a:xfrm>
            <a:off x="512064" y="1238349"/>
            <a:ext cx="3636552" cy="3386327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867"/>
          </a:p>
        </p:txBody>
      </p:sp>
      <p:sp>
        <p:nvSpPr>
          <p:cNvPr id="9" name="Shape 7"/>
          <p:cNvSpPr/>
          <p:nvPr/>
        </p:nvSpPr>
        <p:spPr>
          <a:xfrm>
            <a:off x="512064" y="1238349"/>
            <a:ext cx="3636552" cy="8534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10" name="Text 8"/>
          <p:cNvSpPr/>
          <p:nvPr/>
        </p:nvSpPr>
        <p:spPr>
          <a:xfrm>
            <a:off x="704729" y="1409037"/>
            <a:ext cx="325122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4A5568"/>
                </a:solidFill>
                <a:latin typeface="+mn-lt"/>
                <a:ea typeface="Calibri" pitchFamily="34" charset="-122"/>
                <a:cs typeface="Calibri" pitchFamily="34" charset="-120"/>
              </a:rPr>
              <a:t>① Wall Street Consensus</a:t>
            </a:r>
            <a:endParaRPr lang="en-US">
              <a:latin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4729" y="1969869"/>
            <a:ext cx="3251222" cy="0"/>
          </a:xfrm>
          <a:prstGeom prst="line">
            <a:avLst/>
          </a:prstGeom>
          <a:noFill/>
          <a:ln w="635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12" name="Text 10"/>
          <p:cNvSpPr/>
          <p:nvPr/>
        </p:nvSpPr>
        <p:spPr>
          <a:xfrm>
            <a:off x="656563" y="2067405"/>
            <a:ext cx="334755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>
                <a:solidFill>
                  <a:srgbClr val="1B2E4B"/>
                </a:solidFill>
                <a:latin typeface="+mn-lt"/>
                <a:ea typeface="Calibri" pitchFamily="34" charset="-122"/>
                <a:cs typeface="Calibri" pitchFamily="34" charset="-120"/>
              </a:rPr>
              <a:t>$104</a:t>
            </a:r>
            <a:endParaRPr lang="en-US" sz="3733">
              <a:latin typeface="+mn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46599" y="2936514"/>
            <a:ext cx="2167481" cy="390144"/>
          </a:xfrm>
          <a:prstGeom prst="rect">
            <a:avLst/>
          </a:prstGeom>
          <a:solidFill>
            <a:srgbClr val="E8F4EC"/>
          </a:solidFill>
          <a:ln w="6350">
            <a:solidFill>
              <a:srgbClr val="B8DEC5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14" name="Text 12"/>
          <p:cNvSpPr/>
          <p:nvPr/>
        </p:nvSpPr>
        <p:spPr>
          <a:xfrm>
            <a:off x="1246599" y="2936514"/>
            <a:ext cx="2167481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2D7A4F"/>
                </a:solidFill>
                <a:latin typeface="+mn-lt"/>
                <a:ea typeface="Calibri" pitchFamily="34" charset="-122"/>
                <a:cs typeface="Calibri" pitchFamily="34" charset="-120"/>
              </a:rPr>
              <a:t>~33% upside</a:t>
            </a:r>
            <a:endParaRPr lang="en-US" sz="1200">
              <a:latin typeface="+mn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0646" y="3514043"/>
            <a:ext cx="3299388" cy="877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Avg. of 5-7 analyst price targets</a:t>
            </a: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Range: $93 - $120</a:t>
            </a: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Rating: Buy consensus</a:t>
            </a:r>
            <a:endParaRPr lang="en-US" sz="1200">
              <a:latin typeface="+mn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29239" y="1238349"/>
            <a:ext cx="3636552" cy="3386327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867"/>
          </a:p>
        </p:txBody>
      </p:sp>
      <p:sp>
        <p:nvSpPr>
          <p:cNvPr id="19" name="Shape 17"/>
          <p:cNvSpPr/>
          <p:nvPr/>
        </p:nvSpPr>
        <p:spPr>
          <a:xfrm>
            <a:off x="4329239" y="1238349"/>
            <a:ext cx="3636552" cy="8534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20" name="Text 18"/>
          <p:cNvSpPr/>
          <p:nvPr/>
        </p:nvSpPr>
        <p:spPr>
          <a:xfrm>
            <a:off x="4521904" y="1409037"/>
            <a:ext cx="325122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4A5568"/>
                </a:solidFill>
                <a:latin typeface="+mn-lt"/>
                <a:ea typeface="Calibri" pitchFamily="34" charset="-122"/>
                <a:cs typeface="Calibri" pitchFamily="34" charset="-120"/>
              </a:rPr>
              <a:t>② P/E Mean-Reversion</a:t>
            </a:r>
            <a:endParaRPr lang="en-US">
              <a:latin typeface="+mn-l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21904" y="1969869"/>
            <a:ext cx="3251222" cy="0"/>
          </a:xfrm>
          <a:prstGeom prst="line">
            <a:avLst/>
          </a:prstGeom>
          <a:noFill/>
          <a:ln w="635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22" name="Text 20"/>
          <p:cNvSpPr/>
          <p:nvPr/>
        </p:nvSpPr>
        <p:spPr>
          <a:xfrm>
            <a:off x="4473738" y="2067405"/>
            <a:ext cx="334755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>
                <a:solidFill>
                  <a:srgbClr val="1B2E4B"/>
                </a:solidFill>
                <a:latin typeface="+mn-lt"/>
                <a:ea typeface="Calibri" pitchFamily="34" charset="-122"/>
                <a:cs typeface="Calibri" pitchFamily="34" charset="-120"/>
              </a:rPr>
              <a:t>$102 – $111</a:t>
            </a:r>
            <a:endParaRPr lang="en-US" sz="3733">
              <a:latin typeface="+mn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63775" y="2936514"/>
            <a:ext cx="2167481" cy="390144"/>
          </a:xfrm>
          <a:prstGeom prst="rect">
            <a:avLst/>
          </a:prstGeom>
          <a:solidFill>
            <a:srgbClr val="E8F4EC"/>
          </a:solidFill>
          <a:ln w="6350">
            <a:solidFill>
              <a:srgbClr val="B8DEC5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24" name="Text 22"/>
          <p:cNvSpPr/>
          <p:nvPr/>
        </p:nvSpPr>
        <p:spPr>
          <a:xfrm>
            <a:off x="5063775" y="2936514"/>
            <a:ext cx="2167481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2D7A4F"/>
                </a:solidFill>
                <a:latin typeface="+mn-lt"/>
                <a:ea typeface="Calibri" pitchFamily="34" charset="-122"/>
                <a:cs typeface="Calibri" pitchFamily="34" charset="-120"/>
              </a:rPr>
              <a:t>~31–42% upside</a:t>
            </a:r>
            <a:endParaRPr lang="en-US" sz="1200">
              <a:latin typeface="+mn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497821" y="3514046"/>
            <a:ext cx="32993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5-yr avg P/E: ~17.2x</a:t>
            </a: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FY2026E EPS: $6.00 – $6.50</a:t>
            </a: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Assumes ~8% earnings growth</a:t>
            </a:r>
            <a:endParaRPr lang="en-US" sz="1200">
              <a:latin typeface="+mn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46414" y="1238349"/>
            <a:ext cx="3588386" cy="3386327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867"/>
          </a:p>
        </p:txBody>
      </p:sp>
      <p:sp>
        <p:nvSpPr>
          <p:cNvPr id="29" name="Shape 27"/>
          <p:cNvSpPr/>
          <p:nvPr/>
        </p:nvSpPr>
        <p:spPr>
          <a:xfrm>
            <a:off x="8146414" y="1238349"/>
            <a:ext cx="3588386" cy="8534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30" name="Text 28"/>
          <p:cNvSpPr/>
          <p:nvPr/>
        </p:nvSpPr>
        <p:spPr>
          <a:xfrm>
            <a:off x="8339079" y="1409037"/>
            <a:ext cx="3203056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4A5568"/>
                </a:solidFill>
                <a:latin typeface="+mn-lt"/>
                <a:ea typeface="Calibri" pitchFamily="34" charset="-122"/>
                <a:cs typeface="Calibri" pitchFamily="34" charset="-120"/>
              </a:rPr>
              <a:t>③ Conservative Growth Case</a:t>
            </a:r>
            <a:endParaRPr lang="en-US">
              <a:latin typeface="+mn-lt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339079" y="1969869"/>
            <a:ext cx="3203056" cy="0"/>
          </a:xfrm>
          <a:prstGeom prst="line">
            <a:avLst/>
          </a:prstGeom>
          <a:noFill/>
          <a:ln w="6350">
            <a:solidFill>
              <a:srgbClr val="D4DCE8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32" name="Text 30"/>
          <p:cNvSpPr/>
          <p:nvPr/>
        </p:nvSpPr>
        <p:spPr>
          <a:xfrm>
            <a:off x="8290913" y="2067405"/>
            <a:ext cx="32993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>
                <a:solidFill>
                  <a:srgbClr val="1B2E4B"/>
                </a:solidFill>
                <a:latin typeface="+mn-lt"/>
                <a:ea typeface="Calibri" pitchFamily="34" charset="-122"/>
                <a:cs typeface="Calibri" pitchFamily="34" charset="-120"/>
              </a:rPr>
              <a:t>~$96</a:t>
            </a:r>
            <a:endParaRPr lang="en-US" sz="3733">
              <a:latin typeface="+mn-lt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856867" y="2936514"/>
            <a:ext cx="2167481" cy="390144"/>
          </a:xfrm>
          <a:prstGeom prst="rect">
            <a:avLst/>
          </a:prstGeom>
          <a:solidFill>
            <a:srgbClr val="E8F4EC"/>
          </a:solidFill>
          <a:ln w="6350">
            <a:solidFill>
              <a:srgbClr val="B8DEC5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34" name="Text 32"/>
          <p:cNvSpPr/>
          <p:nvPr/>
        </p:nvSpPr>
        <p:spPr>
          <a:xfrm>
            <a:off x="8856867" y="2936514"/>
            <a:ext cx="2167481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~23% upside</a:t>
            </a:r>
            <a:endParaRPr lang="en-US" sz="1333"/>
          </a:p>
        </p:txBody>
      </p:sp>
      <p:sp>
        <p:nvSpPr>
          <p:cNvPr id="35" name="Text 33"/>
          <p:cNvSpPr/>
          <p:nvPr/>
        </p:nvSpPr>
        <p:spPr>
          <a:xfrm>
            <a:off x="8314996" y="3514042"/>
            <a:ext cx="3251222" cy="877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16x multiple</a:t>
            </a: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Same $6.00 EPS assumption</a:t>
            </a:r>
            <a:endParaRPr lang="en-US" sz="120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8A9BB0"/>
                </a:solidFill>
                <a:latin typeface="+mn-lt"/>
                <a:ea typeface="Calibri" pitchFamily="34" charset="-122"/>
                <a:cs typeface="Calibri" pitchFamily="34" charset="-120"/>
              </a:rPr>
              <a:t>Still significant appreciation</a:t>
            </a:r>
            <a:endParaRPr lang="en-US" sz="1200">
              <a:latin typeface="+mn-lt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12064" y="4812340"/>
            <a:ext cx="3636552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867"/>
          </a:p>
        </p:txBody>
      </p:sp>
      <p:sp>
        <p:nvSpPr>
          <p:cNvPr id="39" name="Shape 37"/>
          <p:cNvSpPr/>
          <p:nvPr/>
        </p:nvSpPr>
        <p:spPr>
          <a:xfrm>
            <a:off x="512064" y="4812340"/>
            <a:ext cx="3636552" cy="85344"/>
          </a:xfrm>
          <a:prstGeom prst="rect">
            <a:avLst/>
          </a:prstGeom>
          <a:solidFill>
            <a:srgbClr val="557A5C"/>
          </a:solidFill>
          <a:ln w="12700">
            <a:solidFill>
              <a:srgbClr val="557A5C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41" name="Text 39"/>
          <p:cNvSpPr/>
          <p:nvPr/>
        </p:nvSpPr>
        <p:spPr>
          <a:xfrm>
            <a:off x="704729" y="4892902"/>
            <a:ext cx="3275305" cy="1077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100" b="1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Dividend Floor</a:t>
            </a:r>
            <a:endParaRPr lang="en-US" sz="1100">
              <a:solidFill>
                <a:schemeClr val="tx1"/>
              </a:solidFill>
              <a:latin typeface="+mn-lt"/>
            </a:endParaRPr>
          </a:p>
          <a:p>
            <a:r>
              <a:rPr lang="en-US" sz="1100" b="1">
                <a:solidFill>
                  <a:srgbClr val="2D7A4F"/>
                </a:solidFill>
                <a:latin typeface="+mn-lt"/>
                <a:ea typeface="Calibri" pitchFamily="34" charset="-122"/>
                <a:cs typeface="Calibri" pitchFamily="34" charset="-120"/>
              </a:rPr>
              <a:t>~1.32% yield</a:t>
            </a:r>
            <a:r>
              <a:rPr lang="en-US" sz="1100">
                <a:solidFill>
                  <a:srgbClr val="4A5568"/>
                </a:solidFill>
                <a:latin typeface="+mn-lt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·</a:t>
            </a:r>
            <a:r>
              <a:rPr lang="en-US" sz="1100">
                <a:solidFill>
                  <a:srgbClr val="4A5568"/>
                </a:solidFill>
                <a:latin typeface="+mn-lt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$1.04/yr (semi-annual, $0.52/payment)  ·  Low ~18% payout ratio with consistent growth. Provides a modest but growing return floor while awaiting re-rating.</a:t>
            </a:r>
            <a:endParaRPr lang="en-US" sz="11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329239" y="4812340"/>
            <a:ext cx="7405561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 sz="1867"/>
          </a:p>
        </p:txBody>
      </p:sp>
      <p:sp>
        <p:nvSpPr>
          <p:cNvPr id="43" name="Shape 41"/>
          <p:cNvSpPr/>
          <p:nvPr/>
        </p:nvSpPr>
        <p:spPr>
          <a:xfrm>
            <a:off x="4329239" y="4812340"/>
            <a:ext cx="7405561" cy="85344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  <p:txBody>
          <a:bodyPr/>
          <a:lstStyle/>
          <a:p>
            <a:endParaRPr lang="en-GB" sz="1867"/>
          </a:p>
        </p:txBody>
      </p:sp>
      <p:sp>
        <p:nvSpPr>
          <p:cNvPr id="45" name="Text 43"/>
          <p:cNvSpPr/>
          <p:nvPr/>
        </p:nvSpPr>
        <p:spPr>
          <a:xfrm>
            <a:off x="4497821" y="4897684"/>
            <a:ext cx="7104522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b="1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Key Assumptions &amp; Context</a:t>
            </a:r>
            <a:endParaRPr lang="en-US" sz="110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2E6DA4"/>
                </a:solidFill>
                <a:latin typeface="+mn-lt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10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Current P/E ~13.9x trades at a ~19% discount to the 5-yr average of 17.2x : significant re-rating potential</a:t>
            </a:r>
          </a:p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2E6DA4"/>
                </a:solidFill>
                <a:latin typeface="+mn-lt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10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FY2025 TTM EPS: ~$5.63  ·  FY2026E: $6.00–$6.50 (buybacks + operating leverage driving ~8% growth)</a:t>
            </a:r>
            <a:endParaRPr lang="en-US" sz="110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100" b="1">
                <a:solidFill>
                  <a:srgbClr val="2E6DA4"/>
                </a:solidFill>
                <a:latin typeface="+mn-lt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100">
                <a:solidFill>
                  <a:schemeClr val="tx1"/>
                </a:solidFill>
                <a:latin typeface="+mn-lt"/>
                <a:ea typeface="Calibri" pitchFamily="34" charset="-122"/>
                <a:cs typeface="Calibri" pitchFamily="34" charset="-120"/>
              </a:rPr>
              <a:t>52-wk range: $64.66–$93.96  ·  Mkt cap: ~$9.5B  ·  Next earnings: Apr 16, 2026</a:t>
            </a:r>
            <a:endParaRPr lang="en-US" sz="110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0" name="Google Shape;315;p13">
            <a:extLst>
              <a:ext uri="{FF2B5EF4-FFF2-40B4-BE49-F238E27FC236}">
                <a16:creationId xmlns:a16="http://schemas.microsoft.com/office/drawing/2014/main" id="{F81C1BBE-1F86-AEF6-D4CB-B2B42FE9D8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799" y="365125"/>
            <a:ext cx="960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316;p13">
            <a:extLst>
              <a:ext uri="{FF2B5EF4-FFF2-40B4-BE49-F238E27FC236}">
                <a16:creationId xmlns:a16="http://schemas.microsoft.com/office/drawing/2014/main" id="{0D9F6F0F-23F7-40D7-9996-91354C896A85}"/>
              </a:ext>
            </a:extLst>
          </p:cNvPr>
          <p:cNvSpPr txBox="1"/>
          <p:nvPr/>
        </p:nvSpPr>
        <p:spPr>
          <a:xfrm>
            <a:off x="476250" y="365125"/>
            <a:ext cx="9820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2000"/>
              <a:buFont typeface="Garamond"/>
              <a:buNone/>
            </a:pPr>
            <a:r>
              <a:rPr lang="en-GB" sz="2000" b="1">
                <a:solidFill>
                  <a:srgbClr val="102747"/>
                </a:solidFill>
                <a:latin typeface="Garamond"/>
                <a:ea typeface="Play"/>
                <a:cs typeface="Play"/>
                <a:sym typeface="Garamond"/>
              </a:rPr>
              <a:t>The Case for a Price Increase</a:t>
            </a:r>
            <a:endParaRPr lang="en-GB"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2" name="Google Shape;317;p13">
            <a:extLst>
              <a:ext uri="{FF2B5EF4-FFF2-40B4-BE49-F238E27FC236}">
                <a16:creationId xmlns:a16="http://schemas.microsoft.com/office/drawing/2014/main" id="{212892AD-D019-3CAE-211A-4B4110CDB2A5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314;p13">
            <a:extLst>
              <a:ext uri="{FF2B5EF4-FFF2-40B4-BE49-F238E27FC236}">
                <a16:creationId xmlns:a16="http://schemas.microsoft.com/office/drawing/2014/main" id="{0A1C92A3-5D59-F5AC-7BEC-D26C938D63A6}"/>
              </a:ext>
            </a:extLst>
          </p:cNvPr>
          <p:cNvSpPr txBox="1">
            <a:spLocks/>
          </p:cNvSpPr>
          <p:nvPr/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fld id="{00000000-1234-1234-1234-123412341234}" type="slidenum">
              <a:rPr lang="en-GB" smtClean="0">
                <a:solidFill>
                  <a:schemeClr val="lt1"/>
                </a:solidFill>
              </a:rPr>
              <a:pPr algn="ctr"/>
              <a:t>8</a:t>
            </a:fld>
            <a:endParaRPr lang="en-GB">
              <a:solidFill>
                <a:schemeClr val="lt1"/>
              </a:solidFill>
            </a:endParaRPr>
          </a:p>
        </p:txBody>
      </p:sp>
      <p:cxnSp>
        <p:nvCxnSpPr>
          <p:cNvPr id="55" name="Google Shape;318;p13">
            <a:extLst>
              <a:ext uri="{FF2B5EF4-FFF2-40B4-BE49-F238E27FC236}">
                <a16:creationId xmlns:a16="http://schemas.microsoft.com/office/drawing/2014/main" id="{880D6369-13B1-DC47-D1F9-4634CA568C64}"/>
              </a:ext>
            </a:extLst>
          </p:cNvPr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" name="Google Shape;322;p13">
            <a:extLst>
              <a:ext uri="{FF2B5EF4-FFF2-40B4-BE49-F238E27FC236}">
                <a16:creationId xmlns:a16="http://schemas.microsoft.com/office/drawing/2014/main" id="{9BABDE27-D83C-A8E9-3D29-4A98EFDFCD9B}"/>
              </a:ext>
            </a:extLst>
          </p:cNvPr>
          <p:cNvSpPr txBox="1">
            <a:spLocks/>
          </p:cNvSpPr>
          <p:nvPr/>
        </p:nvSpPr>
        <p:spPr>
          <a:xfrm>
            <a:off x="479331" y="6275388"/>
            <a:ext cx="3714717" cy="365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00">
                <a:solidFill>
                  <a:srgbClr val="757575"/>
                </a:solidFill>
              </a:rPr>
              <a:t>Benzinga, </a:t>
            </a:r>
            <a:r>
              <a:rPr lang="en-US" sz="900" err="1">
                <a:solidFill>
                  <a:srgbClr val="757575"/>
                </a:solidFill>
              </a:rPr>
              <a:t>FinanceCharts</a:t>
            </a:r>
            <a:r>
              <a:rPr lang="en-US" sz="900">
                <a:solidFill>
                  <a:srgbClr val="757575"/>
                </a:solidFill>
              </a:rPr>
              <a:t>, </a:t>
            </a:r>
            <a:r>
              <a:rPr lang="en-US" sz="900" err="1">
                <a:solidFill>
                  <a:srgbClr val="757575"/>
                </a:solidFill>
              </a:rPr>
              <a:t>MacroTrends</a:t>
            </a:r>
            <a:r>
              <a:rPr lang="en-US" sz="900">
                <a:solidFill>
                  <a:srgbClr val="757575"/>
                </a:solidFill>
              </a:rPr>
              <a:t>, </a:t>
            </a:r>
            <a:r>
              <a:rPr lang="en-US" sz="900" err="1">
                <a:solidFill>
                  <a:srgbClr val="757575"/>
                </a:solidFill>
              </a:rPr>
              <a:t>TipRanks</a:t>
            </a:r>
            <a:endParaRPr lang="en-US" sz="900">
              <a:solidFill>
                <a:srgbClr val="75757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D8ECCE80-BE1A-1991-4ADD-B22957BB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">
            <a:extLst>
              <a:ext uri="{FF2B5EF4-FFF2-40B4-BE49-F238E27FC236}">
                <a16:creationId xmlns:a16="http://schemas.microsoft.com/office/drawing/2014/main" id="{43750838-9A41-AABA-E548-76BA2FEE9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6250" y="365125"/>
            <a:ext cx="98208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2400"/>
              <a:buFont typeface="Garamond"/>
              <a:buNone/>
            </a:pPr>
            <a:r>
              <a:rPr lang="en-GB" sz="2000" b="1">
                <a:solidFill>
                  <a:srgbClr val="102747"/>
                </a:solidFill>
                <a:latin typeface="Garamond"/>
                <a:ea typeface="Garamond"/>
                <a:cs typeface="Garamond"/>
                <a:sym typeface="Garamond"/>
              </a:rPr>
              <a:t>Risks and Catalysts</a:t>
            </a:r>
            <a:endParaRPr lang="en-GB" sz="2000" b="1">
              <a:latin typeface="Garamond"/>
            </a:endParaRPr>
          </a:p>
        </p:txBody>
      </p:sp>
      <p:sp>
        <p:nvSpPr>
          <p:cNvPr id="359" name="Google Shape;359;p16">
            <a:extLst>
              <a:ext uri="{FF2B5EF4-FFF2-40B4-BE49-F238E27FC236}">
                <a16:creationId xmlns:a16="http://schemas.microsoft.com/office/drawing/2014/main" id="{43624204-9091-267E-FD94-5138CAAAADEC}"/>
              </a:ext>
            </a:extLst>
          </p:cNvPr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6">
            <a:extLst>
              <a:ext uri="{FF2B5EF4-FFF2-40B4-BE49-F238E27FC236}">
                <a16:creationId xmlns:a16="http://schemas.microsoft.com/office/drawing/2014/main" id="{F77DB21D-34C6-B790-EABE-E7B0419370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lt1"/>
                </a:solidFill>
              </a:rPr>
              <a:t>9</a:t>
            </a:fld>
            <a:endParaRPr lang="en-GB">
              <a:solidFill>
                <a:schemeClr val="lt1"/>
              </a:solidFill>
            </a:endParaRPr>
          </a:p>
        </p:txBody>
      </p:sp>
      <p:sp>
        <p:nvSpPr>
          <p:cNvPr id="361" name="Google Shape;361;p16">
            <a:extLst>
              <a:ext uri="{FF2B5EF4-FFF2-40B4-BE49-F238E27FC236}">
                <a16:creationId xmlns:a16="http://schemas.microsoft.com/office/drawing/2014/main" id="{8CE8CA6B-C414-44D1-C071-2B60276C70B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6250" y="62753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sz="900"/>
              <a:t>SEI Investments Co. 10-K &amp; Q4 </a:t>
            </a:r>
            <a:r>
              <a:rPr lang="fr-CH" sz="900" err="1"/>
              <a:t>Earnings</a:t>
            </a:r>
            <a:r>
              <a:rPr lang="fr-CH" sz="900"/>
              <a:t> Call</a:t>
            </a:r>
            <a:endParaRPr lang="en-GB" sz="900"/>
          </a:p>
        </p:txBody>
      </p:sp>
      <p:cxnSp>
        <p:nvCxnSpPr>
          <p:cNvPr id="362" name="Google Shape;362;p16">
            <a:extLst>
              <a:ext uri="{FF2B5EF4-FFF2-40B4-BE49-F238E27FC236}">
                <a16:creationId xmlns:a16="http://schemas.microsoft.com/office/drawing/2014/main" id="{71C01D8F-5403-C10C-0BF7-43DD515162FA}"/>
              </a:ext>
            </a:extLst>
          </p:cNvPr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63" name="Google Shape;363;p16">
            <a:extLst>
              <a:ext uri="{FF2B5EF4-FFF2-40B4-BE49-F238E27FC236}">
                <a16:creationId xmlns:a16="http://schemas.microsoft.com/office/drawing/2014/main" id="{17E7AEF0-85F9-D8BA-796F-26270982EA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799" y="365125"/>
            <a:ext cx="960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6">
            <a:extLst>
              <a:ext uri="{FF2B5EF4-FFF2-40B4-BE49-F238E27FC236}">
                <a16:creationId xmlns:a16="http://schemas.microsoft.com/office/drawing/2014/main" id="{DB7560B3-BF63-D597-D7B6-CF8FBB0CDBEC}"/>
              </a:ext>
            </a:extLst>
          </p:cNvPr>
          <p:cNvSpPr/>
          <p:nvPr/>
        </p:nvSpPr>
        <p:spPr>
          <a:xfrm>
            <a:off x="421883" y="1404900"/>
            <a:ext cx="5593988" cy="2772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Garamond"/>
                <a:sym typeface="Garamond"/>
              </a:rPr>
              <a:t>Risks</a:t>
            </a:r>
            <a:endParaRPr lang="en-GB"/>
          </a:p>
        </p:txBody>
      </p:sp>
      <p:sp>
        <p:nvSpPr>
          <p:cNvPr id="369" name="Google Shape;369;p16">
            <a:extLst>
              <a:ext uri="{FF2B5EF4-FFF2-40B4-BE49-F238E27FC236}">
                <a16:creationId xmlns:a16="http://schemas.microsoft.com/office/drawing/2014/main" id="{DCF86547-198B-4423-A946-B215AD18812B}"/>
              </a:ext>
            </a:extLst>
          </p:cNvPr>
          <p:cNvSpPr/>
          <p:nvPr/>
        </p:nvSpPr>
        <p:spPr>
          <a:xfrm>
            <a:off x="427033" y="1719232"/>
            <a:ext cx="5588838" cy="42778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t" anchorCtr="0">
            <a:noAutofit/>
          </a:bodyPr>
          <a:lstStyle/>
          <a:p>
            <a:pPr algn="just"/>
            <a:endParaRPr lang="en-GB" sz="1500">
              <a:solidFill>
                <a:schemeClr val="dk1"/>
              </a:solidFill>
              <a:latin typeface="Garamond"/>
              <a:ea typeface="Garamond"/>
              <a:cs typeface="Garamond"/>
            </a:endParaRPr>
          </a:p>
          <a:p>
            <a:pPr algn="just"/>
            <a:r>
              <a:rPr lang="en-GB" sz="1500" b="1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Macro level: </a:t>
            </a:r>
            <a:endParaRPr lang="en-GB" sz="1500">
              <a:solidFill>
                <a:schemeClr val="dk1"/>
              </a:solidFill>
              <a:latin typeface="Garamond"/>
            </a:endParaRPr>
          </a:p>
          <a:p>
            <a:pPr marL="285750" indent="-285750" algn="just">
              <a:buFont typeface="Arial"/>
              <a:buChar char="•"/>
            </a:pPr>
            <a:endParaRPr lang="en-GB" sz="1500" b="1">
              <a:solidFill>
                <a:schemeClr val="dk1"/>
              </a:solidFill>
              <a:latin typeface="Garamond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Garamond"/>
              </a:rPr>
              <a:t>Equity Market Sensitivity:</a:t>
            </a:r>
            <a:r>
              <a:rPr lang="en-GB" sz="1500">
                <a:solidFill>
                  <a:schemeClr val="dk1"/>
                </a:solidFill>
                <a:latin typeface="Garamond"/>
              </a:rPr>
              <a:t> ~40% of revenue is directly linked to AUM, a market downturn would likely result in reduced revenue</a:t>
            </a:r>
          </a:p>
          <a:p>
            <a:pPr marL="285750" indent="-285750" algn="just"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Garamond"/>
              </a:rPr>
              <a:t>Interest Rate Consequences:</a:t>
            </a:r>
            <a:r>
              <a:rPr lang="en-GB" sz="1500">
                <a:solidFill>
                  <a:schemeClr val="dk1"/>
                </a:solidFill>
                <a:latin typeface="Garamond"/>
              </a:rPr>
              <a:t> Current rate-cutting cycle threatens $49M in annual interest income generated by cash reserves</a:t>
            </a:r>
          </a:p>
          <a:p>
            <a:pPr algn="just"/>
            <a:endParaRPr lang="en-GB" sz="1500">
              <a:solidFill>
                <a:schemeClr val="dk1"/>
              </a:solidFill>
              <a:latin typeface="Garamond"/>
              <a:ea typeface="Calibri"/>
              <a:cs typeface="Calibri"/>
            </a:endParaRPr>
          </a:p>
          <a:p>
            <a:pPr algn="just"/>
            <a:r>
              <a:rPr lang="en-GB" sz="1500" b="1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Company level:</a:t>
            </a:r>
          </a:p>
          <a:p>
            <a:pPr algn="just"/>
            <a:endParaRPr lang="en-GB" sz="1500">
              <a:solidFill>
                <a:schemeClr val="dk1"/>
              </a:solidFill>
              <a:latin typeface="Garamond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Garamond"/>
                <a:ea typeface="Garamond"/>
              </a:rPr>
              <a:t>Active to Passive Shift:</a:t>
            </a:r>
            <a:r>
              <a:rPr lang="en-GB" sz="1500">
                <a:solidFill>
                  <a:schemeClr val="dk1"/>
                </a:solidFill>
                <a:latin typeface="Garamond"/>
                <a:ea typeface="Garamond"/>
              </a:rPr>
              <a:t> Client migration to index funds consistently reduces average fee rates even when AUM grows, this shrinks income, particularly in the LSV affiliate</a:t>
            </a:r>
          </a:p>
          <a:p>
            <a:pPr marL="285750" indent="-285750" algn="just">
              <a:buFont typeface="Arial"/>
              <a:buChar char="•"/>
            </a:pPr>
            <a:r>
              <a:rPr lang="en-GB" sz="1500" b="1">
                <a:solidFill>
                  <a:schemeClr val="dk1"/>
                </a:solidFill>
                <a:latin typeface="Garamond"/>
                <a:ea typeface="Garamond"/>
              </a:rPr>
              <a:t>Implementation Execution:</a:t>
            </a:r>
            <a:r>
              <a:rPr lang="en-GB" sz="1500">
                <a:solidFill>
                  <a:schemeClr val="dk1"/>
                </a:solidFill>
                <a:latin typeface="Garamond"/>
                <a:ea typeface="Garamond"/>
              </a:rPr>
              <a:t> SWP installations are complex, multi-year projects, there is a risk of failure that could cause severe reputational damage</a:t>
            </a:r>
            <a:endParaRPr lang="en-GB" sz="1600">
              <a:solidFill>
                <a:schemeClr val="dk1"/>
              </a:solidFill>
              <a:ea typeface="Garamond"/>
            </a:endParaRPr>
          </a:p>
          <a:p>
            <a:endParaRPr lang="en-GB" sz="1600">
              <a:solidFill>
                <a:schemeClr val="dk1"/>
              </a:solidFill>
              <a:latin typeface="Garamond"/>
              <a:ea typeface="Garamond"/>
            </a:endParaRPr>
          </a:p>
        </p:txBody>
      </p:sp>
      <p:sp>
        <p:nvSpPr>
          <p:cNvPr id="373" name="Google Shape;373;p16">
            <a:extLst>
              <a:ext uri="{FF2B5EF4-FFF2-40B4-BE49-F238E27FC236}">
                <a16:creationId xmlns:a16="http://schemas.microsoft.com/office/drawing/2014/main" id="{1C472889-0F68-FEDF-93C6-61F66C33C135}"/>
              </a:ext>
            </a:extLst>
          </p:cNvPr>
          <p:cNvSpPr/>
          <p:nvPr/>
        </p:nvSpPr>
        <p:spPr>
          <a:xfrm>
            <a:off x="6159896" y="1404900"/>
            <a:ext cx="5574904" cy="277200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Garamond"/>
                <a:sym typeface="Garamond"/>
              </a:rPr>
              <a:t>Catalysts</a:t>
            </a:r>
            <a:endParaRPr lang="en-GB">
              <a:solidFill>
                <a:schemeClr val="lt1"/>
              </a:solidFill>
            </a:endParaRPr>
          </a:p>
        </p:txBody>
      </p:sp>
      <p:sp>
        <p:nvSpPr>
          <p:cNvPr id="2" name="Google Shape;369;p16">
            <a:extLst>
              <a:ext uri="{FF2B5EF4-FFF2-40B4-BE49-F238E27FC236}">
                <a16:creationId xmlns:a16="http://schemas.microsoft.com/office/drawing/2014/main" id="{0316F734-F61E-3491-E7A7-BC22DD4DD0CB}"/>
              </a:ext>
            </a:extLst>
          </p:cNvPr>
          <p:cNvSpPr/>
          <p:nvPr/>
        </p:nvSpPr>
        <p:spPr>
          <a:xfrm>
            <a:off x="6159896" y="1719232"/>
            <a:ext cx="5588838" cy="42778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t" anchorCtr="0">
            <a:noAutofit/>
          </a:bodyPr>
          <a:lstStyle/>
          <a:p>
            <a:pPr algn="just">
              <a:buClr>
                <a:srgbClr val="102747"/>
              </a:buClr>
              <a:buSzPts val="1400"/>
            </a:pPr>
            <a:r>
              <a:rPr lang="en-GB" sz="1500" b="1">
                <a:solidFill>
                  <a:schemeClr val="dk1"/>
                </a:solidFill>
                <a:latin typeface="Garamond"/>
              </a:rPr>
              <a:t>Macro level:</a:t>
            </a:r>
            <a:endParaRPr lang="en-GB" sz="1600"/>
          </a:p>
          <a:p>
            <a:pPr algn="just">
              <a:buSzPts val="1400"/>
            </a:pPr>
            <a:endParaRPr lang="en-GB" sz="1500">
              <a:solidFill>
                <a:schemeClr val="dk1"/>
              </a:solidFill>
              <a:latin typeface="Garamond"/>
            </a:endParaRPr>
          </a:p>
          <a:p>
            <a:pPr marL="285750" indent="-285750" algn="just">
              <a:buSzPts val="1400"/>
              <a:buChar char="•"/>
            </a:pPr>
            <a:r>
              <a:rPr lang="en-GB" sz="1500" b="1">
                <a:solidFill>
                  <a:schemeClr val="dk1"/>
                </a:solidFill>
                <a:latin typeface="Garamond"/>
              </a:rPr>
              <a:t>The Outsourcing Wave:</a:t>
            </a:r>
            <a:r>
              <a:rPr lang="en-GB" sz="1500">
                <a:solidFill>
                  <a:schemeClr val="dk1"/>
                </a:solidFill>
                <a:latin typeface="Garamond"/>
              </a:rPr>
              <a:t> Rising tech costs and strict regulations are forcing mid-sized banks to adopt SEI’s end-to-end solutions (e.g., U.S. Bank)</a:t>
            </a:r>
          </a:p>
          <a:p>
            <a:pPr marL="285750" indent="-285750" algn="just">
              <a:buSzPts val="1400"/>
              <a:buChar char="•"/>
            </a:pPr>
            <a:r>
              <a:rPr lang="en-GB" sz="1500" b="1">
                <a:solidFill>
                  <a:schemeClr val="dk1"/>
                </a:solidFill>
                <a:latin typeface="Garamond"/>
              </a:rPr>
              <a:t>Alternative Assets Trend:</a:t>
            </a:r>
            <a:r>
              <a:rPr lang="en-GB" sz="1500">
                <a:solidFill>
                  <a:schemeClr val="dk1"/>
                </a:solidFill>
                <a:latin typeface="Garamond"/>
              </a:rPr>
              <a:t> Growth in private equity and private credit is driving heavy demand for SEI's high-margin fund administration services</a:t>
            </a:r>
          </a:p>
          <a:p>
            <a:pPr marL="285750" indent="-285750" algn="just">
              <a:buSzPts val="1400"/>
              <a:buChar char="•"/>
            </a:pPr>
            <a:endParaRPr lang="en-GB" sz="1500">
              <a:solidFill>
                <a:schemeClr val="dk1"/>
              </a:solidFill>
              <a:latin typeface="Garamond"/>
            </a:endParaRPr>
          </a:p>
          <a:p>
            <a:pPr algn="just">
              <a:buSzPts val="1400"/>
            </a:pPr>
            <a:r>
              <a:rPr lang="en-GB" sz="1500" b="1">
                <a:solidFill>
                  <a:schemeClr val="dk1"/>
                </a:solidFill>
                <a:latin typeface="Garamond"/>
              </a:rPr>
              <a:t>Company level:</a:t>
            </a:r>
          </a:p>
          <a:p>
            <a:pPr algn="just">
              <a:buSzPts val="1400"/>
            </a:pPr>
            <a:endParaRPr lang="en-GB" sz="1500">
              <a:solidFill>
                <a:schemeClr val="dk1"/>
              </a:solidFill>
              <a:latin typeface="Garamond"/>
            </a:endParaRPr>
          </a:p>
          <a:p>
            <a:pPr marL="285750" indent="-285750" algn="just">
              <a:buSzPts val="1400"/>
              <a:buChar char="•"/>
            </a:pPr>
            <a:r>
              <a:rPr lang="en-GB" sz="1500" b="1">
                <a:solidFill>
                  <a:schemeClr val="dk1"/>
                </a:solidFill>
                <a:latin typeface="Garamond"/>
              </a:rPr>
              <a:t>SWP Modularisation:</a:t>
            </a:r>
            <a:r>
              <a:rPr lang="en-GB" sz="1500">
                <a:solidFill>
                  <a:schemeClr val="dk1"/>
                </a:solidFill>
                <a:latin typeface="Garamond"/>
              </a:rPr>
              <a:t> Selling individual platform components significantly expands customer base by removing the friction of full system migrations</a:t>
            </a:r>
          </a:p>
          <a:p>
            <a:pPr marL="285750" indent="-285750" algn="just">
              <a:buSzPts val="1400"/>
              <a:buChar char="•"/>
            </a:pPr>
            <a:r>
              <a:rPr lang="en-GB" sz="1500" b="1">
                <a:solidFill>
                  <a:schemeClr val="dk1"/>
                </a:solidFill>
                <a:latin typeface="Garamond"/>
              </a:rPr>
              <a:t>Strategic Balance Sheet:</a:t>
            </a:r>
            <a:r>
              <a:rPr lang="en-GB" sz="1500">
                <a:solidFill>
                  <a:schemeClr val="dk1"/>
                </a:solidFill>
                <a:latin typeface="Garamond"/>
              </a:rPr>
              <a:t> Zero debt and &gt;$600M in annual FCF provide massive resources for M&amp;A and/or technology, while many competitors remain constrained by high leverage</a:t>
            </a:r>
          </a:p>
        </p:txBody>
      </p:sp>
    </p:spTree>
    <p:extLst>
      <p:ext uri="{BB962C8B-B14F-4D97-AF65-F5344CB8AC3E}">
        <p14:creationId xmlns:p14="http://schemas.microsoft.com/office/powerpoint/2010/main" val="3377247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title"/>
          </p:nvPr>
        </p:nvSpPr>
        <p:spPr>
          <a:xfrm>
            <a:off x="476250" y="365125"/>
            <a:ext cx="1125855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2400"/>
              <a:buFont typeface="Garamond"/>
              <a:buNone/>
            </a:pPr>
            <a:r>
              <a:rPr lang="en-GB" sz="2000" b="1">
                <a:solidFill>
                  <a:srgbClr val="102747"/>
                </a:solidFill>
                <a:latin typeface="Garamond"/>
                <a:ea typeface="Garamond"/>
                <a:cs typeface="Garamond"/>
                <a:sym typeface="Garamond"/>
              </a:rPr>
              <a:t>Investment </a:t>
            </a:r>
            <a:r>
              <a:rPr lang="en-GB" sz="2000" b="1" dirty="0">
                <a:solidFill>
                  <a:srgbClr val="102747"/>
                </a:solidFill>
                <a:latin typeface="Garamond"/>
                <a:ea typeface="Garamond"/>
                <a:cs typeface="Garamond"/>
                <a:sym typeface="Garamond"/>
              </a:rPr>
              <a:t>Proposal</a:t>
            </a:r>
          </a:p>
        </p:txBody>
      </p:sp>
      <p:sp>
        <p:nvSpPr>
          <p:cNvPr id="399" name="Google Shape;399;p18"/>
          <p:cNvSpPr/>
          <p:nvPr/>
        </p:nvSpPr>
        <p:spPr>
          <a:xfrm>
            <a:off x="0" y="365125"/>
            <a:ext cx="275771" cy="70167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0799" y="365125"/>
            <a:ext cx="960000" cy="7016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8"/>
          <p:cNvSpPr/>
          <p:nvPr/>
        </p:nvSpPr>
        <p:spPr>
          <a:xfrm>
            <a:off x="3395400" y="1742179"/>
            <a:ext cx="5398089" cy="422565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n-GB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3395400" y="1374356"/>
            <a:ext cx="5398089" cy="277574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54000" tIns="54000" rIns="54000" bIns="54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SEI Investments Co.</a:t>
            </a:r>
            <a:endParaRPr lang="en-GB"/>
          </a:p>
        </p:txBody>
      </p:sp>
      <p:grpSp>
        <p:nvGrpSpPr>
          <p:cNvPr id="404" name="Google Shape;404;p18"/>
          <p:cNvGrpSpPr/>
          <p:nvPr/>
        </p:nvGrpSpPr>
        <p:grpSpPr>
          <a:xfrm>
            <a:off x="3710244" y="2057287"/>
            <a:ext cx="636481" cy="612000"/>
            <a:chOff x="3346022" y="2067165"/>
            <a:chExt cx="636481" cy="612000"/>
          </a:xfrm>
        </p:grpSpPr>
        <p:sp>
          <p:nvSpPr>
            <p:cNvPr id="405" name="Google Shape;405;p18"/>
            <p:cNvSpPr/>
            <p:nvPr/>
          </p:nvSpPr>
          <p:spPr>
            <a:xfrm>
              <a:off x="3346022" y="2067165"/>
              <a:ext cx="636481" cy="612000"/>
            </a:xfrm>
            <a:prstGeom prst="ellipse">
              <a:avLst/>
            </a:prstGeom>
            <a:solidFill>
              <a:srgbClr val="1027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6" name="Google Shape;406;p18" descr="Shopping basket outlin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48262" y="2128314"/>
              <a:ext cx="432000" cy="43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7" name="Google Shape;407;p18"/>
          <p:cNvGrpSpPr/>
          <p:nvPr/>
        </p:nvGrpSpPr>
        <p:grpSpPr>
          <a:xfrm>
            <a:off x="3710244" y="2793819"/>
            <a:ext cx="636481" cy="612000"/>
            <a:chOff x="3346022" y="2803697"/>
            <a:chExt cx="636481" cy="612000"/>
          </a:xfrm>
        </p:grpSpPr>
        <p:sp>
          <p:nvSpPr>
            <p:cNvPr id="408" name="Google Shape;408;p18"/>
            <p:cNvSpPr/>
            <p:nvPr/>
          </p:nvSpPr>
          <p:spPr>
            <a:xfrm>
              <a:off x="3346022" y="2803697"/>
              <a:ext cx="636481" cy="612000"/>
            </a:xfrm>
            <a:prstGeom prst="ellipse">
              <a:avLst/>
            </a:prstGeom>
            <a:solidFill>
              <a:srgbClr val="1027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9" name="Google Shape;409;p18" descr="Door Open outline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448262" y="2884399"/>
              <a:ext cx="432000" cy="43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0" name="Google Shape;410;p18"/>
          <p:cNvGrpSpPr/>
          <p:nvPr/>
        </p:nvGrpSpPr>
        <p:grpSpPr>
          <a:xfrm>
            <a:off x="3696627" y="4238277"/>
            <a:ext cx="636481" cy="612000"/>
            <a:chOff x="3332405" y="4248155"/>
            <a:chExt cx="636481" cy="612000"/>
          </a:xfrm>
        </p:grpSpPr>
        <p:sp>
          <p:nvSpPr>
            <p:cNvPr id="411" name="Google Shape;411;p18"/>
            <p:cNvSpPr/>
            <p:nvPr/>
          </p:nvSpPr>
          <p:spPr>
            <a:xfrm>
              <a:off x="3332405" y="4248155"/>
              <a:ext cx="636481" cy="612000"/>
            </a:xfrm>
            <a:prstGeom prst="ellipse">
              <a:avLst/>
            </a:prstGeom>
            <a:solidFill>
              <a:srgbClr val="1027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2" name="Google Shape;412;p18" descr="Exit outlin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434645" y="4337952"/>
              <a:ext cx="432000" cy="43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3" name="Google Shape;413;p18"/>
          <p:cNvSpPr txBox="1"/>
          <p:nvPr/>
        </p:nvSpPr>
        <p:spPr>
          <a:xfrm>
            <a:off x="4574952" y="2166523"/>
            <a:ext cx="42185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Garamond"/>
              <a:buNone/>
            </a:pPr>
            <a:r>
              <a:rPr lang="en-GB" sz="14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Shares to Buy (</a:t>
            </a:r>
            <a:r>
              <a:rPr lang="en-GB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NASDAQ:SEIC</a:t>
            </a:r>
            <a:r>
              <a:rPr lang="en-GB" sz="14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r>
              <a:rPr lang="en-GB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r>
              <a: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shares</a:t>
            </a:r>
            <a:endParaRPr lang="en-GB" sz="1400" i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4574952" y="2892951"/>
            <a:ext cx="42185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Garamond"/>
              <a:buNone/>
            </a:pPr>
            <a:r>
              <a:rPr lang="en-GB" sz="1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Maximum Entry Price</a:t>
            </a:r>
            <a:endParaRPr lang="en-GB" dirty="0"/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Arial"/>
              <a:buChar char="•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~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80</a:t>
            </a: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USD/share (current price: 78.11 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USD</a:t>
            </a: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  <a:endParaRPr lang="en-GB" dirty="0"/>
          </a:p>
        </p:txBody>
      </p:sp>
      <p:sp>
        <p:nvSpPr>
          <p:cNvPr id="415" name="Google Shape;415;p18"/>
          <p:cNvSpPr txBox="1"/>
          <p:nvPr/>
        </p:nvSpPr>
        <p:spPr>
          <a:xfrm>
            <a:off x="4574951" y="3619379"/>
            <a:ext cx="42406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Garamond"/>
              <a:buNone/>
            </a:pPr>
            <a:r>
              <a:rPr lang="en-GB" sz="1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Maximum Investment</a:t>
            </a:r>
            <a:endParaRPr lang="en-GB" sz="140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Arial"/>
              <a:buChar char="•"/>
            </a:pP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~ 1200 USD (~960 CHF)</a:t>
            </a:r>
            <a:endParaRPr lang="en-GB" dirty="0"/>
          </a:p>
        </p:txBody>
      </p:sp>
      <p:sp>
        <p:nvSpPr>
          <p:cNvPr id="416" name="Google Shape;416;p18"/>
          <p:cNvSpPr txBox="1"/>
          <p:nvPr/>
        </p:nvSpPr>
        <p:spPr>
          <a:xfrm>
            <a:off x="4574952" y="4345807"/>
            <a:ext cx="421853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Garamond"/>
              <a:buNone/>
            </a:pPr>
            <a:r>
              <a:rPr lang="en-GB" sz="1400" b="1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Target / Exit Price</a:t>
            </a:r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Arial"/>
              <a:buChar char="•"/>
            </a:pPr>
            <a:r>
              <a:rPr lang="en-GB" sz="1400" i="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&gt;</a:t>
            </a: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 </a:t>
            </a:r>
            <a:r>
              <a:rPr lang="en-GB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100</a:t>
            </a:r>
            <a:r>
              <a:rPr lang="en-GB" sz="1400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USD/share</a:t>
            </a:r>
            <a:endParaRPr lang="en-GB" sz="1400" i="0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417" name="Google Shape;417;p18"/>
          <p:cNvGrpSpPr/>
          <p:nvPr/>
        </p:nvGrpSpPr>
        <p:grpSpPr>
          <a:xfrm>
            <a:off x="3710244" y="3530351"/>
            <a:ext cx="636481" cy="612000"/>
            <a:chOff x="3346022" y="3540229"/>
            <a:chExt cx="636481" cy="612000"/>
          </a:xfrm>
        </p:grpSpPr>
        <p:sp>
          <p:nvSpPr>
            <p:cNvPr id="418" name="Google Shape;418;p18"/>
            <p:cNvSpPr/>
            <p:nvPr/>
          </p:nvSpPr>
          <p:spPr>
            <a:xfrm>
              <a:off x="3346022" y="3540229"/>
              <a:ext cx="636481" cy="612000"/>
            </a:xfrm>
            <a:prstGeom prst="ellipse">
              <a:avLst/>
            </a:prstGeom>
            <a:solidFill>
              <a:srgbClr val="1027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9" name="Google Shape;419;p18" descr="Coins outlin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38753" y="3618647"/>
              <a:ext cx="456468" cy="4564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0" name="Google Shape;420;p18"/>
          <p:cNvGrpSpPr/>
          <p:nvPr/>
        </p:nvGrpSpPr>
        <p:grpSpPr>
          <a:xfrm>
            <a:off x="3694532" y="4988009"/>
            <a:ext cx="636481" cy="612000"/>
            <a:chOff x="3330310" y="4997887"/>
            <a:chExt cx="636481" cy="612000"/>
          </a:xfrm>
        </p:grpSpPr>
        <p:sp>
          <p:nvSpPr>
            <p:cNvPr id="421" name="Google Shape;421;p18"/>
            <p:cNvSpPr/>
            <p:nvPr/>
          </p:nvSpPr>
          <p:spPr>
            <a:xfrm>
              <a:off x="3330310" y="4997887"/>
              <a:ext cx="636481" cy="612000"/>
            </a:xfrm>
            <a:prstGeom prst="ellipse">
              <a:avLst/>
            </a:prstGeom>
            <a:solidFill>
              <a:srgbClr val="10274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2" name="Google Shape;422;p18" descr="Open hand outline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32551" y="5092082"/>
              <a:ext cx="432000" cy="43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3" name="Google Shape;423;p18"/>
          <p:cNvSpPr txBox="1"/>
          <p:nvPr/>
        </p:nvSpPr>
        <p:spPr>
          <a:xfrm>
            <a:off x="4574951" y="5084240"/>
            <a:ext cx="424069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Garamond"/>
              <a:buNone/>
            </a:pPr>
            <a:r>
              <a:rPr lang="en-GB" sz="14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Holding Period</a:t>
            </a:r>
            <a:endParaRPr lang="en-GB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747"/>
              </a:buClr>
              <a:buSzPts val="1400"/>
              <a:buFont typeface="Arial"/>
              <a:buChar char="•"/>
            </a:pPr>
            <a:r>
              <a:rPr lang="en-GB" sz="1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3-4 years</a:t>
            </a:r>
            <a:endParaRPr lang="en-GB" sz="1400" i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24" name="Google Shape;424;p18"/>
          <p:cNvSpPr txBox="1">
            <a:spLocks noGrp="1"/>
          </p:cNvSpPr>
          <p:nvPr>
            <p:ph type="sldNum" idx="12"/>
          </p:nvPr>
        </p:nvSpPr>
        <p:spPr>
          <a:xfrm>
            <a:off x="11346287" y="6275388"/>
            <a:ext cx="388513" cy="365125"/>
          </a:xfrm>
          <a:prstGeom prst="rect">
            <a:avLst/>
          </a:prstGeom>
          <a:solidFill>
            <a:srgbClr val="102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lt1"/>
                </a:solidFill>
              </a:rPr>
              <a:t>10</a:t>
            </a:fld>
            <a:endParaRPr lang="en-GB">
              <a:solidFill>
                <a:schemeClr val="lt1"/>
              </a:solidFill>
            </a:endParaRPr>
          </a:p>
        </p:txBody>
      </p:sp>
      <p:sp>
        <p:nvSpPr>
          <p:cNvPr id="425" name="Google Shape;425;p18"/>
          <p:cNvSpPr txBox="1">
            <a:spLocks noGrp="1"/>
          </p:cNvSpPr>
          <p:nvPr>
            <p:ph type="ftr" idx="11"/>
          </p:nvPr>
        </p:nvSpPr>
        <p:spPr>
          <a:xfrm>
            <a:off x="476250" y="627538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IS Lausanne | Financial Services</a:t>
            </a:r>
            <a:endParaRPr lang="en-GB"/>
          </a:p>
        </p:txBody>
      </p:sp>
      <p:cxnSp>
        <p:nvCxnSpPr>
          <p:cNvPr id="426" name="Google Shape;426;p18"/>
          <p:cNvCxnSpPr/>
          <p:nvPr/>
        </p:nvCxnSpPr>
        <p:spPr>
          <a:xfrm>
            <a:off x="4724360" y="6492875"/>
            <a:ext cx="6490862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1366</Words>
  <Application>Microsoft Office PowerPoint</Application>
  <PresentationFormat>Grand écran</PresentationFormat>
  <Paragraphs>180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Office Theme</vt:lpstr>
      <vt:lpstr>Présentation PowerPoint</vt:lpstr>
      <vt:lpstr>Présentation PowerPoint</vt:lpstr>
      <vt:lpstr>SEI at a Glance</vt:lpstr>
      <vt:lpstr>Présentation PowerPoint</vt:lpstr>
      <vt:lpstr>Competitive Landscape &amp; Pricing Power</vt:lpstr>
      <vt:lpstr>Présentation PowerPoint</vt:lpstr>
      <vt:lpstr>Présentation PowerPoint</vt:lpstr>
      <vt:lpstr>Présentation PowerPoint</vt:lpstr>
      <vt:lpstr>Risks and Catalysts</vt:lpstr>
      <vt:lpstr>Investment Proposal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 Romano</dc:creator>
  <cp:lastModifiedBy>Cyrille Desponds</cp:lastModifiedBy>
  <cp:revision>2</cp:revision>
  <dcterms:created xsi:type="dcterms:W3CDTF">2025-05-02T11:00:25Z</dcterms:created>
  <dcterms:modified xsi:type="dcterms:W3CDTF">2026-04-19T20:33:15Z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0x0101001AC6292656715B44A624C8BECA4583AD</vt:lpwstr>
  </property>
</Properties>
</file>